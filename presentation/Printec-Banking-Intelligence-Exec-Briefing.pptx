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79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93E64C-2C44-DEED-DE05-A0007968E5E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556875" y="63500"/>
            <a:ext cx="1597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Classification: [Confidential]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9701784" y="1993392"/>
            <a:ext cx="91440" cy="1764792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793224" y="2862072"/>
            <a:ext cx="1413157" cy="896112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793224" y="3758184"/>
            <a:ext cx="1413157" cy="841247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701784" y="3758184"/>
            <a:ext cx="91440" cy="1709928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197186" y="3758184"/>
            <a:ext cx="1596038" cy="841247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8197186" y="2862072"/>
            <a:ext cx="1596038" cy="896112"/>
          </a:xfrm>
          <a:prstGeom prst="line">
            <a:avLst/>
          </a:prstGeom>
          <a:ln w="15875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509760" y="1828800"/>
            <a:ext cx="384048" cy="384048"/>
          </a:xfrm>
          <a:prstGeom prst="ellipse">
            <a:avLst/>
          </a:prstGeom>
          <a:solidFill>
            <a:srgbClr val="D3EFF8"/>
          </a:solidFill>
          <a:ln w="15875">
            <a:solidFill>
              <a:srgbClr val="23C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14357" y="2697480"/>
            <a:ext cx="384048" cy="384048"/>
          </a:xfrm>
          <a:prstGeom prst="ellipse">
            <a:avLst/>
          </a:prstGeom>
          <a:solidFill>
            <a:srgbClr val="CFE1F3"/>
          </a:solidFill>
          <a:ln w="15875">
            <a:solidFill>
              <a:srgbClr val="A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14357" y="4434840"/>
            <a:ext cx="384048" cy="384048"/>
          </a:xfrm>
          <a:prstGeom prst="ellipse">
            <a:avLst/>
          </a:prstGeom>
          <a:solidFill>
            <a:srgbClr val="E0D4F4"/>
          </a:solidFill>
          <a:ln w="15875">
            <a:solidFill>
              <a:srgbClr val="BF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09760" y="5303520"/>
            <a:ext cx="384048" cy="384048"/>
          </a:xfrm>
          <a:prstGeom prst="ellipse">
            <a:avLst/>
          </a:prstGeom>
          <a:solidFill>
            <a:srgbClr val="D2E2B4"/>
          </a:solidFill>
          <a:ln w="15875">
            <a:solidFill>
              <a:srgbClr val="A6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5162" y="4434840"/>
            <a:ext cx="384048" cy="384048"/>
          </a:xfrm>
          <a:prstGeom prst="ellipse">
            <a:avLst/>
          </a:prstGeom>
          <a:solidFill>
            <a:srgbClr val="F8E9A0"/>
          </a:solidFill>
          <a:ln w="15875">
            <a:solidFill>
              <a:srgbClr val="F0CF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05162" y="2697479"/>
            <a:ext cx="384048" cy="384048"/>
          </a:xfrm>
          <a:prstGeom prst="ellipse">
            <a:avLst/>
          </a:prstGeom>
          <a:solidFill>
            <a:srgbClr val="F4D9CE"/>
          </a:solidFill>
          <a:ln w="15875">
            <a:solidFill>
              <a:srgbClr val="E27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0" y="3566160"/>
            <a:ext cx="566928" cy="566928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416966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28B7B"/>
                </a:solidFill>
                <a:latin typeface="Plus Jakarta Sans"/>
              </a:rPr>
              <a:t>6 agents · 1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6928"/>
            <a:ext cx="1647748" cy="484632"/>
          </a:xfrm>
          <a:prstGeom prst="roundRect">
            <a:avLst>
              <a:gd name="adj" fmla="val 24000"/>
            </a:avLst>
          </a:prstGeom>
          <a:solidFill>
            <a:srgbClr val="14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1395" y="760780"/>
            <a:ext cx="96926" cy="96926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477" y="566928"/>
            <a:ext cx="1318199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7" b="1">
                <a:solidFill>
                  <a:srgbClr val="F5F1E8"/>
                </a:solidFill>
                <a:latin typeface="Plus Jakarta Sans"/>
              </a:rPr>
              <a:t>Printec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96596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240">
                <a:solidFill>
                  <a:srgbClr val="0B6F87"/>
                </a:solidFill>
                <a:latin typeface="Plus Jakarta Sans"/>
              </a:rPr>
              <a:t>EXECUTIVE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331720"/>
            <a:ext cx="7863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700" b="0">
                <a:solidFill>
                  <a:srgbClr val="16130D"/>
                </a:solidFill>
                <a:latin typeface="Plus Jakarta Sans"/>
              </a:rPr>
              <a:t>Banking Market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700" b="1">
                <a:solidFill>
                  <a:srgbClr val="16130D"/>
                </a:solidFill>
                <a:latin typeface="Plus Jakarta Sans"/>
              </a:rPr>
              <a:t>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6908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50" b="0">
                <a:solidFill>
                  <a:srgbClr val="5F594C"/>
                </a:solidFill>
                <a:latin typeface="Plus Jakarta Sans"/>
              </a:rPr>
              <a:t>An autonomous, multi-agent research system that infers what banks in Printec’s footprint will need — before they ask.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9200"/>
            <a:ext cx="7498079" cy="566928"/>
          </a:xfrm>
          <a:prstGeom prst="roundRect">
            <a:avLst>
              <a:gd name="adj" fmla="val 19354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30D"/>
                </a:solidFill>
                <a:latin typeface="Plus Jakarta Sans"/>
              </a:rPr>
              <a:t>17  </a:t>
            </a:r>
            <a:r>
              <a:rPr sz="1250" b="0">
                <a:solidFill>
                  <a:srgbClr val="5F594C"/>
                </a:solidFill>
                <a:latin typeface="Plus Jakarta Sans"/>
              </a:rPr>
              <a:t>countries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8960" y="5138928"/>
            <a:ext cx="0" cy="347472"/>
          </a:xfrm>
          <a:prstGeom prst="line">
            <a:avLst/>
          </a:prstGeom>
          <a:ln w="12700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64408" y="51023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30D"/>
                </a:solidFill>
                <a:latin typeface="Plus Jakarta Sans"/>
              </a:rPr>
              <a:t>Weekly  </a:t>
            </a:r>
            <a:r>
              <a:rPr sz="1250" b="0">
                <a:solidFill>
                  <a:srgbClr val="5F594C"/>
                </a:solidFill>
                <a:latin typeface="Plus Jakarta Sans"/>
              </a:rPr>
              <a:t>cadence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04688" y="5138928"/>
            <a:ext cx="0" cy="347472"/>
          </a:xfrm>
          <a:prstGeom prst="line">
            <a:avLst/>
          </a:prstGeom>
          <a:ln w="12700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0136" y="51023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30D"/>
                </a:solidFill>
                <a:latin typeface="Plus Jakarta Sans"/>
              </a:rPr>
              <a:t>100%  </a:t>
            </a:r>
            <a:r>
              <a:rPr sz="1250" b="0">
                <a:solidFill>
                  <a:srgbClr val="5F594C"/>
                </a:solidFill>
                <a:latin typeface="Plus Jakarta Sans"/>
              </a:rPr>
              <a:t>claims cited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28B7B"/>
                </a:solidFill>
                <a:latin typeface="Plus Jakarta Sans"/>
              </a:rPr>
              <a:t>Prepared for the Printec Group leadership team   ·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Banks don’t publish their buying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5F594C"/>
                </a:solidFill>
                <a:latin typeface="Plus Jakarta Sans"/>
              </a:rPr>
              <a:t>Our job is to know what every bank across 17 countries will need </a:t>
            </a:r>
            <a:r>
              <a:rPr sz="1550" b="1">
                <a:solidFill>
                  <a:srgbClr val="16130D"/>
                </a:solidFill>
                <a:latin typeface="Plus Jakarta Sans"/>
              </a:rPr>
              <a:t>6–12 months before they issue an RFP</a:t>
            </a:r>
            <a:r>
              <a:rPr sz="1550" b="0">
                <a:solidFill>
                  <a:srgbClr val="5F594C"/>
                </a:solidFill>
                <a:latin typeface="Plus Jakarta Sans"/>
              </a:rPr>
              <a:t> — without a single bank interview.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14600"/>
            <a:ext cx="3346704" cy="3063240"/>
          </a:xfrm>
          <a:prstGeom prst="roundRect">
            <a:avLst>
              <a:gd name="adj" fmla="val 477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109728" cy="3063240"/>
          </a:xfrm>
          <a:prstGeom prst="roundRect">
            <a:avLst>
              <a:gd name="adj" fmla="val 41666"/>
            </a:avLst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825496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30D"/>
                </a:solidFill>
                <a:latin typeface="Plus Jakarta Sa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92424"/>
            <a:ext cx="277977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F594C"/>
                </a:solidFill>
                <a:latin typeface="Plus Jakarta Sans"/>
              </a:rPr>
              <a:t>Buying signals are scattered — investor decks, public tenders, regulators, job boards, vendor results — across 17 countries and a dozen languages. No single source tells you what is coming.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05656" y="2514600"/>
            <a:ext cx="3346704" cy="3063240"/>
          </a:xfrm>
          <a:prstGeom prst="roundRect">
            <a:avLst>
              <a:gd name="adj" fmla="val 477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05656" y="2514600"/>
            <a:ext cx="109728" cy="3063240"/>
          </a:xfrm>
          <a:prstGeom prst="roundRect">
            <a:avLst>
              <a:gd name="adj" fmla="val 41666"/>
            </a:avLst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825496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30D"/>
                </a:solidFill>
                <a:latin typeface="Plus Jakarta Sans"/>
              </a:rPr>
              <a:t>The opening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3392424"/>
            <a:ext cx="277977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F594C"/>
                </a:solidFill>
                <a:latin typeface="Plus Jakarta Sans"/>
              </a:rPr>
              <a:t>Banks hire, disclose, and get regulated before they buy. Read those tells early and you reach the decision-maker while there is still a deal to shape — not after the tender is public.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44383" y="2514600"/>
            <a:ext cx="3346704" cy="3063240"/>
          </a:xfrm>
          <a:prstGeom prst="roundRect">
            <a:avLst>
              <a:gd name="adj" fmla="val 477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44383" y="2514600"/>
            <a:ext cx="109728" cy="3063240"/>
          </a:xfrm>
          <a:prstGeom prst="roundRect">
            <a:avLst>
              <a:gd name="adj" fmla="val 41666"/>
            </a:avLst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825496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30D"/>
                </a:solidFill>
                <a:latin typeface="Plus Jakarta Sans"/>
              </a:rPr>
              <a:t>The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392424"/>
            <a:ext cx="277977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F594C"/>
                </a:solidFill>
                <a:latin typeface="Plus Jakarta Sans"/>
              </a:rPr>
              <a:t>One rule above all: never invent a number. Every figure traces to a dated, named, re-checkable source — the system only classifies and counts values that already exist.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One autonomous system. Every week. Fully cited.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5F594C"/>
                </a:solidFill>
                <a:latin typeface="Plus Jakarta Sans"/>
              </a:rPr>
              <a:t>Six specialist research agents, a triangulating orchestrator, and an independent validator turn the open web into a board-grade brief and a live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9252" y="2483987"/>
            <a:ext cx="1700784" cy="1737360"/>
          </a:xfrm>
          <a:prstGeom prst="roundRect">
            <a:avLst>
              <a:gd name="adj" fmla="val 8602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15284" y="2776595"/>
            <a:ext cx="384048" cy="91440"/>
          </a:xfrm>
          <a:prstGeom prst="roundRect">
            <a:avLst>
              <a:gd name="adj" fmla="val 40000"/>
            </a:avLst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9252" y="2941187"/>
            <a:ext cx="1700784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l-GR" sz="3700" dirty="0">
                <a:solidFill>
                  <a:srgbClr val="16130D"/>
                </a:solidFill>
                <a:latin typeface="Plus Jakarta Sans"/>
              </a:rPr>
              <a:t>8</a:t>
            </a:r>
            <a:endParaRPr sz="3700" b="0" dirty="0">
              <a:solidFill>
                <a:srgbClr val="16130D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68980" y="3672707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specialist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912" y="2483987"/>
            <a:ext cx="1700784" cy="1737360"/>
          </a:xfrm>
          <a:prstGeom prst="roundRect">
            <a:avLst>
              <a:gd name="adj" fmla="val 8602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66944" y="2776595"/>
            <a:ext cx="384048" cy="91440"/>
          </a:xfrm>
          <a:prstGeom prst="roundRect">
            <a:avLst>
              <a:gd name="adj" fmla="val 40000"/>
            </a:avLst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0912" y="2941187"/>
            <a:ext cx="17007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0">
                <a:solidFill>
                  <a:srgbClr val="16130D"/>
                </a:solidFill>
                <a:latin typeface="Plus Jakarta Sans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72707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countries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62572" y="2483987"/>
            <a:ext cx="1700784" cy="1737360"/>
          </a:xfrm>
          <a:prstGeom prst="roundRect">
            <a:avLst>
              <a:gd name="adj" fmla="val 8602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18604" y="2776595"/>
            <a:ext cx="384048" cy="91440"/>
          </a:xfrm>
          <a:prstGeom prst="roundRect">
            <a:avLst>
              <a:gd name="adj" fmla="val 40000"/>
            </a:avLst>
          </a:prstGeom>
          <a:solidFill>
            <a:srgbClr val="BF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2572" y="2941187"/>
            <a:ext cx="1700784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l-GR" sz="3700" dirty="0">
                <a:solidFill>
                  <a:srgbClr val="16130D"/>
                </a:solidFill>
                <a:latin typeface="Plus Jakarta Sans"/>
              </a:rPr>
              <a:t>8</a:t>
            </a:r>
            <a:endParaRPr sz="3700" b="0" dirty="0">
              <a:solidFill>
                <a:srgbClr val="16130D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2300" y="3672707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dashboard 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26864"/>
            <a:ext cx="11064240" cy="1060704"/>
          </a:xfrm>
          <a:prstGeom prst="roundRect">
            <a:avLst>
              <a:gd name="adj" fmla="val 13793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5029200"/>
            <a:ext cx="256032" cy="256032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" y="47365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5F1E8"/>
                </a:solidFill>
                <a:latin typeface="Plus Jakarta Sans"/>
              </a:rPr>
              <a:t>Live now at </a:t>
            </a:r>
            <a:r>
              <a:rPr sz="1400" b="1">
                <a:solidFill>
                  <a:srgbClr val="23C0E2"/>
                </a:solidFill>
                <a:latin typeface="Plus Jakarta Sans"/>
              </a:rPr>
              <a:t>printec-market-research.vercel.app</a:t>
            </a:r>
            <a:r>
              <a:rPr sz="1400" b="0">
                <a:solidFill>
                  <a:srgbClr val="B9B2A4"/>
                </a:solidFill>
                <a:latin typeface="Plus Jakarta Sans"/>
              </a:rPr>
              <a:t>  —  it refreshes automatically every week with no redeploy, and every figure, deadline and forecast is one click from its source.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① THE COLLECTORS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Six specialists, six angles on the same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Each fans out one subagent per unit</a:t>
            </a:r>
            <a:r>
              <a:rPr sz="1150" b="0">
                <a:solidFill>
                  <a:srgbClr val="5F594C"/>
                </a:solidFill>
                <a:latin typeface="Plus Jakarta Sans"/>
              </a:rPr>
              <a:t>  —  bank · portal · regulation · country · competitor — so depth scales with the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883664"/>
            <a:ext cx="457200" cy="457200"/>
          </a:xfrm>
          <a:prstGeom prst="ellipse">
            <a:avLst/>
          </a:prstGeom>
          <a:solidFill>
            <a:srgbClr val="D3EFF8"/>
          </a:solidFill>
          <a:ln w="15875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6F87"/>
                </a:solidFill>
                <a:latin typeface="Plus Jakarta Sans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Bank Disclosures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05456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6F87"/>
                </a:solidFill>
                <a:latin typeface="Plus Jakarta Sans"/>
              </a:rPr>
              <a:t>Reads what banks tell investors.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5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IR &amp; strategy-day decks, verbatim earnings-call transcripts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3300983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D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330098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B6F87"/>
                </a:solidFill>
                <a:latin typeface="Plus Jakarta Sans"/>
              </a:rPr>
              <a:t>Monthly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572768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17720" y="1883664"/>
            <a:ext cx="457200" cy="457200"/>
          </a:xfrm>
          <a:prstGeom prst="ellipse">
            <a:avLst/>
          </a:prstGeom>
          <a:solidFill>
            <a:srgbClr val="CFE1F3"/>
          </a:solidFill>
          <a:ln w="15875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7506F"/>
                </a:solidFill>
                <a:latin typeface="Plus Jakarta Sans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84708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Tenders &amp; Procurement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505456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7506F"/>
                </a:solidFill>
                <a:latin typeface="Plus Jakarta Sans"/>
              </a:rPr>
              <a:t>Catches banks buying in the open.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871215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TED (EU-wide API) + 15 national portals + bank-owned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3300983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CF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6008" y="330098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7506F"/>
                </a:solidFill>
                <a:latin typeface="Plus Jakarta Sans"/>
              </a:rPr>
              <a:t>Weekly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572768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75904" y="1883664"/>
            <a:ext cx="457200" cy="457200"/>
          </a:xfrm>
          <a:prstGeom prst="ellipse">
            <a:avLst/>
          </a:prstGeom>
          <a:solidFill>
            <a:srgbClr val="E0D4F4"/>
          </a:solidFill>
          <a:ln w="15875">
            <a:solidFill>
              <a:srgbClr val="553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4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53897"/>
                </a:solidFill>
                <a:latin typeface="Plus Jakarta Sans"/>
              </a:rPr>
              <a:t>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184708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Regulation &amp; Deadlines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505456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553897"/>
                </a:solidFill>
                <a:latin typeface="Plus Jakarta Sans"/>
              </a:rPr>
              <a:t>Tracks the rules that force spend.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871215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ECB / EBA / central banks: DORA, instant payments, accessibility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3300983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E0D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330098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53897"/>
                </a:solidFill>
                <a:latin typeface="Plus Jakarta Sans"/>
              </a:rPr>
              <a:t>2× / 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9536" y="4206240"/>
            <a:ext cx="457200" cy="457200"/>
          </a:xfrm>
          <a:prstGeom prst="ellipse">
            <a:avLst/>
          </a:prstGeom>
          <a:solidFill>
            <a:srgbClr val="D2E2B4"/>
          </a:solidFill>
          <a:ln w="15875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D5A1C"/>
                </a:solidFill>
                <a:latin typeface="Plus Jakarta Sans"/>
              </a:rPr>
              <a:t>A4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69663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Market Statistics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4828031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D5A1C"/>
                </a:solidFill>
                <a:latin typeface="Plus Jakarta Sans"/>
              </a:rPr>
              <a:t>Measures the structural backdrop.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193792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ECB Data Portal + central banks + leading indicators (Trends, apps)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" y="5623559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D2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623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D5A1C"/>
                </a:solidFill>
                <a:latin typeface="Plus Jakarta Sans"/>
              </a:rPr>
              <a:t>Monthly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5112" y="3895344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17720" y="4206240"/>
            <a:ext cx="457200" cy="457200"/>
          </a:xfrm>
          <a:prstGeom prst="ellipse">
            <a:avLst/>
          </a:prstGeom>
          <a:solidFill>
            <a:srgbClr val="F8E9A0"/>
          </a:solidFill>
          <a:ln w="15875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A5C00"/>
                </a:solidFill>
                <a:latin typeface="Plus Jakarta Sans"/>
              </a:rPr>
              <a:t>A5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1224" y="4169663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Early Intent — Jobs + Leadership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6008" y="4828031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A5C00"/>
                </a:solidFill>
                <a:latin typeface="Plus Jakarta Sans"/>
              </a:rPr>
              <a:t>Spots intent before the budget.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8" y="5193792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Bank career pages, LinkedIn, senior-executive appointments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36008" y="5623559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F8E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36008" y="5623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7A5C00"/>
                </a:solidFill>
                <a:latin typeface="Plus Jakarta Sans"/>
              </a:rPr>
              <a:t>Weekly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83296" y="3895344"/>
            <a:ext cx="3593592" cy="2139696"/>
          </a:xfrm>
          <a:prstGeom prst="roundRect">
            <a:avLst>
              <a:gd name="adj" fmla="val 6837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375904" y="4206240"/>
            <a:ext cx="457200" cy="457200"/>
          </a:xfrm>
          <a:prstGeom prst="ellipse">
            <a:avLst/>
          </a:prstGeom>
          <a:solidFill>
            <a:srgbClr val="F4D9CE"/>
          </a:solidFill>
          <a:ln w="15875">
            <a:solidFill>
              <a:srgbClr val="9C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75904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C4A36"/>
                </a:solidFill>
                <a:latin typeface="Plus Jakarta Sans"/>
              </a:rPr>
              <a:t>A6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4169663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Vendors &amp; Competitors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828031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9C4A36"/>
                </a:solidFill>
                <a:latin typeface="Plus Jakarta Sans"/>
              </a:rPr>
              <a:t>Watches where money already flows.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5193792"/>
            <a:ext cx="2990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Where: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150+ rivals — giants to local peers; filings, tenders, footprint press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4192" y="5623559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F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94192" y="5623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C4A36"/>
                </a:solidFill>
                <a:latin typeface="Plus Jakarta Sans"/>
              </a:rPr>
              <a:t>Weekly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How the system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594C"/>
                </a:solidFill>
                <a:latin typeface="Plus Jakarta Sans"/>
              </a:rPr>
              <a:t>Each collector </a:t>
            </a:r>
            <a:r>
              <a:rPr sz="1050" b="1">
                <a:solidFill>
                  <a:srgbClr val="16130D"/>
                </a:solidFill>
                <a:latin typeface="Plus Jakarta Sans"/>
              </a:rPr>
              <a:t>fans out a subagent per bank, portal, market or competitor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; the Orchestrator </a:t>
            </a:r>
            <a:r>
              <a:rPr sz="1050" b="1">
                <a:solidFill>
                  <a:srgbClr val="16130D"/>
                </a:solidFill>
                <a:latin typeface="Plus Jakarta Sans"/>
              </a:rPr>
              <a:t>runs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 the engine and </a:t>
            </a:r>
            <a:r>
              <a:rPr sz="1050" b="1">
                <a:solidFill>
                  <a:srgbClr val="16130D"/>
                </a:solidFill>
                <a:latin typeface="Plus Jakarta Sans"/>
              </a:rPr>
              <a:t>spawns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 the validator (now auditing the 2–5yr futures too). A8 · Future Outlook runs monthly.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59367" y="484266"/>
            <a:ext cx="0" cy="39502"/>
          </a:xfrm>
          <a:prstGeom prst="line">
            <a:avLst/>
          </a:prstGeom>
          <a:ln w="16510">
            <a:solidFill>
              <a:srgbClr val="1613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641811" y="471098"/>
            <a:ext cx="35112" cy="35112"/>
          </a:xfrm>
          <a:prstGeom prst="ellipse">
            <a:avLst/>
          </a:prstGeom>
          <a:solidFill>
            <a:srgbClr val="161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532546"/>
            <a:ext cx="219456" cy="144840"/>
          </a:xfrm>
          <a:prstGeom prst="roundRect">
            <a:avLst>
              <a:gd name="adj" fmla="val 33333"/>
            </a:avLst>
          </a:prstGeom>
          <a:solidFill>
            <a:srgbClr val="FFFDF8"/>
          </a:solidFill>
          <a:ln w="16510">
            <a:solidFill>
              <a:srgbClr val="161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9017" y="590482"/>
            <a:ext cx="32918" cy="32918"/>
          </a:xfrm>
          <a:prstGeom prst="ellipse">
            <a:avLst/>
          </a:prstGeom>
          <a:solidFill>
            <a:srgbClr val="161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799" y="590482"/>
            <a:ext cx="32918" cy="32918"/>
          </a:xfrm>
          <a:prstGeom prst="ellipse">
            <a:avLst/>
          </a:prstGeom>
          <a:solidFill>
            <a:srgbClr val="161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78824" y="4389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30D"/>
                </a:solidFill>
                <a:latin typeface="Plus Jakarta Sans"/>
              </a:rPr>
              <a:t>AI agent </a:t>
            </a:r>
            <a:r>
              <a:rPr sz="900" b="0">
                <a:solidFill>
                  <a:srgbClr val="928B7B"/>
                </a:solidFill>
                <a:latin typeface="Plus Jakarta Sans"/>
              </a:rPr>
              <a:t>·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1585" y="822960"/>
            <a:ext cx="175564" cy="219456"/>
          </a:xfrm>
          <a:prstGeom prst="roundRect">
            <a:avLst>
              <a:gd name="adj" fmla="val 15000"/>
            </a:avLst>
          </a:prstGeom>
          <a:solidFill>
            <a:srgbClr val="FFFDF8"/>
          </a:solidFill>
          <a:ln w="16510">
            <a:solidFill>
              <a:srgbClr val="161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610209" y="888796"/>
            <a:ext cx="98317" cy="0"/>
          </a:xfrm>
          <a:prstGeom prst="line">
            <a:avLst/>
          </a:prstGeom>
          <a:ln w="15240">
            <a:solidFill>
              <a:srgbClr val="1613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10209" y="932688"/>
            <a:ext cx="98317" cy="0"/>
          </a:xfrm>
          <a:prstGeom prst="line">
            <a:avLst/>
          </a:prstGeom>
          <a:ln w="15240">
            <a:solidFill>
              <a:srgbClr val="1613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10209" y="976579"/>
            <a:ext cx="98317" cy="0"/>
          </a:xfrm>
          <a:prstGeom prst="line">
            <a:avLst/>
          </a:prstGeom>
          <a:ln w="15240">
            <a:solidFill>
              <a:srgbClr val="1613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78824" y="7863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30D"/>
                </a:solidFill>
                <a:latin typeface="Plus Jakarta Sans"/>
              </a:rPr>
              <a:t>Python script </a:t>
            </a:r>
            <a:r>
              <a:rPr sz="900" b="0">
                <a:solidFill>
                  <a:srgbClr val="928B7B"/>
                </a:solidFill>
                <a:latin typeface="Plus Jakarta Sans"/>
              </a:rPr>
              <a:t>· deterministic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78327" y="1609344"/>
            <a:ext cx="6035040" cy="365760"/>
          </a:xfrm>
          <a:prstGeom prst="roundRect">
            <a:avLst>
              <a:gd name="adj" fmla="val 50000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7783" y="1746504"/>
            <a:ext cx="91440" cy="91440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9767" y="1609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3C0E2"/>
                </a:solidFill>
                <a:latin typeface="Plus Jakarta Sans"/>
              </a:rPr>
              <a:t>MISSION</a:t>
            </a:r>
            <a:r>
              <a:rPr sz="1050" b="0">
                <a:solidFill>
                  <a:srgbClr val="F5F1E8"/>
                </a:solidFill>
                <a:latin typeface="Plus Jakarta Sans"/>
              </a:rPr>
              <a:t>   infer what banks will need in the next 6–12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868680" y="2303190"/>
            <a:ext cx="0" cy="36210"/>
          </a:xfrm>
          <a:prstGeom prst="line">
            <a:avLst/>
          </a:prstGeom>
          <a:ln w="16510">
            <a:solidFill>
              <a:srgbClr val="0B6F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52586" y="2291120"/>
            <a:ext cx="32186" cy="32186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8096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D3EFF8"/>
          </a:solidFill>
          <a:ln w="1651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3358" y="2400556"/>
            <a:ext cx="30175" cy="30175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3826" y="2400556"/>
            <a:ext cx="30175" cy="30175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5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F87"/>
                </a:solidFill>
                <a:latin typeface="Plus Jakarta Sans"/>
              </a:rPr>
              <a:t>A1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B6F87"/>
                </a:solidFill>
                <a:latin typeface="Plus Jakarta Sans"/>
              </a:rPr>
              <a:t>Bank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B6F87"/>
                </a:solidFill>
                <a:latin typeface="Plus Jakarta Sans"/>
              </a:rPr>
              <a:t>Disclosures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79468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CFE1F3"/>
          </a:solidFill>
          <a:ln w="12700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233748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CFE1F3"/>
          </a:solidFill>
          <a:ln w="12700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2444060" y="2303190"/>
            <a:ext cx="0" cy="36210"/>
          </a:xfrm>
          <a:prstGeom prst="line">
            <a:avLst/>
          </a:prstGeom>
          <a:ln w="16510">
            <a:solidFill>
              <a:srgbClr val="2750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427967" y="2291120"/>
            <a:ext cx="32186" cy="32186"/>
          </a:xfrm>
          <a:prstGeom prst="ellipse">
            <a:avLst/>
          </a:prstGeom>
          <a:solidFill>
            <a:srgbClr val="275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343476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CFE1F3"/>
          </a:solidFill>
          <a:ln w="16510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88739" y="2400556"/>
            <a:ext cx="30175" cy="30175"/>
          </a:xfrm>
          <a:prstGeom prst="ellipse">
            <a:avLst/>
          </a:prstGeom>
          <a:solidFill>
            <a:srgbClr val="275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469206" y="2400556"/>
            <a:ext cx="30175" cy="30175"/>
          </a:xfrm>
          <a:prstGeom prst="ellipse">
            <a:avLst/>
          </a:prstGeom>
          <a:solidFill>
            <a:srgbClr val="275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17796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506F"/>
                </a:solidFill>
                <a:latin typeface="Plus Jakarta Sans"/>
              </a:rPr>
              <a:t>A2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9468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7506F"/>
                </a:solidFill>
                <a:latin typeface="Plus Jakarta Sans"/>
              </a:rPr>
              <a:t>Tenders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7506F"/>
                </a:solidFill>
                <a:latin typeface="Plus Jakarta Sans"/>
              </a:rPr>
              <a:t>Procurement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54849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E0D4F4"/>
          </a:solidFill>
          <a:ln w="12700">
            <a:solidFill>
              <a:srgbClr val="553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809129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E0D4F4"/>
          </a:solidFill>
          <a:ln w="12700">
            <a:solidFill>
              <a:srgbClr val="553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4019441" y="2303190"/>
            <a:ext cx="0" cy="36210"/>
          </a:xfrm>
          <a:prstGeom prst="line">
            <a:avLst/>
          </a:prstGeom>
          <a:ln w="16510">
            <a:solidFill>
              <a:srgbClr val="5538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003347" y="2291120"/>
            <a:ext cx="32186" cy="32186"/>
          </a:xfrm>
          <a:prstGeom prst="ellipse">
            <a:avLst/>
          </a:prstGeom>
          <a:solidFill>
            <a:srgbClr val="553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918857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E0D4F4"/>
          </a:solidFill>
          <a:ln w="16510">
            <a:solidFill>
              <a:srgbClr val="553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964119" y="2400556"/>
            <a:ext cx="30175" cy="30175"/>
          </a:xfrm>
          <a:prstGeom prst="ellipse">
            <a:avLst/>
          </a:prstGeom>
          <a:solidFill>
            <a:srgbClr val="553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044587" y="2400556"/>
            <a:ext cx="30175" cy="30175"/>
          </a:xfrm>
          <a:prstGeom prst="ellipse">
            <a:avLst/>
          </a:prstGeom>
          <a:solidFill>
            <a:srgbClr val="553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93177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53897"/>
                </a:solidFill>
                <a:latin typeface="Plus Jakarta Sans"/>
              </a:rPr>
              <a:t>A3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4849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3897"/>
                </a:solidFill>
                <a:latin typeface="Plus Jakarta Sans"/>
              </a:rPr>
              <a:t>Regulation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3897"/>
                </a:solidFill>
                <a:latin typeface="Plus Jakarta Sans"/>
              </a:rPr>
              <a:t>Deadlines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30229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D2E2B4"/>
          </a:solidFill>
          <a:ln w="12700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84509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D2E2B4"/>
          </a:solidFill>
          <a:ln w="12700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594821" y="2303190"/>
            <a:ext cx="0" cy="36210"/>
          </a:xfrm>
          <a:prstGeom prst="line">
            <a:avLst/>
          </a:prstGeom>
          <a:ln w="16510">
            <a:solidFill>
              <a:srgbClr val="3D5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578728" y="2291120"/>
            <a:ext cx="32186" cy="32186"/>
          </a:xfrm>
          <a:prstGeom prst="ellipse">
            <a:avLst/>
          </a:prstGeom>
          <a:solidFill>
            <a:srgbClr val="3D5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494237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D2E2B4"/>
          </a:solidFill>
          <a:ln w="16510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539500" y="2400556"/>
            <a:ext cx="30175" cy="30175"/>
          </a:xfrm>
          <a:prstGeom prst="ellipse">
            <a:avLst/>
          </a:prstGeom>
          <a:solidFill>
            <a:srgbClr val="3D5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619967" y="2400556"/>
            <a:ext cx="30175" cy="30175"/>
          </a:xfrm>
          <a:prstGeom prst="ellipse">
            <a:avLst/>
          </a:prstGeom>
          <a:solidFill>
            <a:srgbClr val="3D5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8557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5A1C"/>
                </a:solidFill>
                <a:latin typeface="Plus Jakarta Sans"/>
              </a:rPr>
              <a:t>A4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30229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D5A1C"/>
                </a:solidFill>
                <a:latin typeface="Plus Jakarta Sans"/>
              </a:rPr>
              <a:t>Market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D5A1C"/>
                </a:solidFill>
                <a:latin typeface="Plus Jakarta Sans"/>
              </a:rPr>
              <a:t>Statistics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05610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F8E9A0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959890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F8E9A0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7170202" y="2303190"/>
            <a:ext cx="0" cy="36210"/>
          </a:xfrm>
          <a:prstGeom prst="line">
            <a:avLst/>
          </a:prstGeom>
          <a:ln w="16510">
            <a:solidFill>
              <a:srgbClr val="7A5C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154108" y="2291120"/>
            <a:ext cx="32186" cy="32186"/>
          </a:xfrm>
          <a:prstGeom prst="ellipse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069618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F8E9A0"/>
          </a:solidFill>
          <a:ln w="1651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114881" y="2400556"/>
            <a:ext cx="30175" cy="30175"/>
          </a:xfrm>
          <a:prstGeom prst="ellipse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195348" y="2400556"/>
            <a:ext cx="30175" cy="30175"/>
          </a:xfrm>
          <a:prstGeom prst="ellipse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43938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5C00"/>
                </a:solidFill>
                <a:latin typeface="Plus Jakarta Sans"/>
              </a:rPr>
              <a:t>A5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05610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7A5C00"/>
                </a:solidFill>
                <a:latin typeface="Plus Jakarta Sans"/>
              </a:rPr>
              <a:t>Early Intent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7A5C00"/>
                </a:solidFill>
                <a:latin typeface="Plus Jakarta Sans"/>
              </a:rPr>
              <a:t>Jobs+Leaders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80990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F4D9CE"/>
          </a:solidFill>
          <a:ln w="12700">
            <a:solidFill>
              <a:srgbClr val="9C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535270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F4D9CE"/>
          </a:solidFill>
          <a:ln w="12700">
            <a:solidFill>
              <a:srgbClr val="9C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8745582" y="2303190"/>
            <a:ext cx="0" cy="36210"/>
          </a:xfrm>
          <a:prstGeom prst="line">
            <a:avLst/>
          </a:prstGeom>
          <a:ln w="16510">
            <a:solidFill>
              <a:srgbClr val="9C4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729489" y="2291120"/>
            <a:ext cx="32186" cy="32186"/>
          </a:xfrm>
          <a:prstGeom prst="ellipse">
            <a:avLst/>
          </a:prstGeom>
          <a:solidFill>
            <a:srgbClr val="9C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644998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F4D9CE"/>
          </a:solidFill>
          <a:ln w="16510">
            <a:solidFill>
              <a:srgbClr val="9C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690261" y="2400556"/>
            <a:ext cx="30175" cy="30175"/>
          </a:xfrm>
          <a:prstGeom prst="ellipse">
            <a:avLst/>
          </a:prstGeom>
          <a:solidFill>
            <a:srgbClr val="9C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770728" y="2400556"/>
            <a:ext cx="30175" cy="30175"/>
          </a:xfrm>
          <a:prstGeom prst="ellipse">
            <a:avLst/>
          </a:prstGeom>
          <a:solidFill>
            <a:srgbClr val="9C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19318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4A36"/>
                </a:solidFill>
                <a:latin typeface="Plus Jakarta Sans"/>
              </a:rPr>
              <a:t>A6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80990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C4A36"/>
                </a:solidFill>
                <a:latin typeface="Plus Jakarta Sans"/>
              </a:rPr>
              <a:t>Vendors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C4A36"/>
                </a:solidFill>
                <a:latin typeface="Plus Jakarta Sans"/>
              </a:rPr>
              <a:t>Competitors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56371" y="214884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CFE7E0"/>
          </a:solidFill>
          <a:ln w="12700">
            <a:solidFill>
              <a:srgbClr val="1C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0110651" y="2194560"/>
            <a:ext cx="1429076" cy="731520"/>
          </a:xfrm>
          <a:prstGeom prst="roundRect">
            <a:avLst>
              <a:gd name="adj" fmla="val 15000"/>
            </a:avLst>
          </a:prstGeom>
          <a:solidFill>
            <a:srgbClr val="CFE7E0"/>
          </a:solidFill>
          <a:ln w="12700">
            <a:solidFill>
              <a:srgbClr val="1C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10320963" y="2303190"/>
            <a:ext cx="0" cy="36210"/>
          </a:xfrm>
          <a:prstGeom prst="line">
            <a:avLst/>
          </a:prstGeom>
          <a:ln w="16510">
            <a:solidFill>
              <a:srgbClr val="1C5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10304869" y="2291120"/>
            <a:ext cx="32186" cy="32186"/>
          </a:xfrm>
          <a:prstGeom prst="ellipse">
            <a:avLst/>
          </a:prstGeom>
          <a:solidFill>
            <a:srgbClr val="1C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220379" y="2347447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CFE7E0"/>
          </a:solidFill>
          <a:ln w="16510">
            <a:solidFill>
              <a:srgbClr val="1C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0265642" y="2400556"/>
            <a:ext cx="30175" cy="30175"/>
          </a:xfrm>
          <a:prstGeom prst="ellipse">
            <a:avLst/>
          </a:prstGeom>
          <a:solidFill>
            <a:srgbClr val="1C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346109" y="2400556"/>
            <a:ext cx="30175" cy="30175"/>
          </a:xfrm>
          <a:prstGeom prst="ellipse">
            <a:avLst/>
          </a:prstGeom>
          <a:solidFill>
            <a:srgbClr val="1C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494699" y="2286000"/>
            <a:ext cx="9718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A4A"/>
                </a:solidFill>
                <a:latin typeface="Plus Jakarta Sans"/>
              </a:rPr>
              <a:t>A8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56371" y="2532888"/>
            <a:ext cx="13376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5A4A"/>
                </a:solidFill>
                <a:latin typeface="Plus Jakarta Sans"/>
              </a:rPr>
              <a:t>Future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5A4A"/>
                </a:solidFill>
                <a:latin typeface="Plus Jakarta Sans"/>
              </a:rPr>
              <a:t>Outlook</a:t>
            </a:r>
          </a:p>
        </p:txBody>
      </p:sp>
      <p:sp>
        <p:nvSpPr>
          <p:cNvPr id="83" name="Oval 82"/>
          <p:cNvSpPr/>
          <p:nvPr/>
        </p:nvSpPr>
        <p:spPr>
          <a:xfrm>
            <a:off x="274320" y="2414015"/>
            <a:ext cx="292608" cy="292608"/>
          </a:xfrm>
          <a:prstGeom prst="ellipse">
            <a:avLst/>
          </a:prstGeom>
          <a:solidFill>
            <a:srgbClr val="FBF6EC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4320" y="2414015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①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483967" y="3236976"/>
            <a:ext cx="7223760" cy="566928"/>
          </a:xfrm>
          <a:prstGeom prst="roundRect">
            <a:avLst>
              <a:gd name="adj" fmla="val 25806"/>
            </a:avLst>
          </a:prstGeom>
          <a:solidFill>
            <a:srgbClr val="23C0E2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>
            <a:off x="2913735" y="3394252"/>
            <a:ext cx="0" cy="49378"/>
          </a:xfrm>
          <a:prstGeom prst="line">
            <a:avLst/>
          </a:prstGeom>
          <a:ln w="16510">
            <a:solidFill>
              <a:srgbClr val="064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2891789" y="3377793"/>
            <a:ext cx="43891" cy="43891"/>
          </a:xfrm>
          <a:prstGeom prst="ellipse">
            <a:avLst/>
          </a:prstGeom>
          <a:solidFill>
            <a:srgbClr val="06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776575" y="3454603"/>
            <a:ext cx="274320" cy="181051"/>
          </a:xfrm>
          <a:prstGeom prst="roundRect">
            <a:avLst>
              <a:gd name="adj" fmla="val 33333"/>
            </a:avLst>
          </a:prstGeom>
          <a:solidFill>
            <a:srgbClr val="BDEAF5"/>
          </a:solidFill>
          <a:ln w="16510">
            <a:solidFill>
              <a:srgbClr val="064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838297" y="3527023"/>
            <a:ext cx="41148" cy="41148"/>
          </a:xfrm>
          <a:prstGeom prst="ellipse">
            <a:avLst/>
          </a:prstGeom>
          <a:solidFill>
            <a:srgbClr val="06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948025" y="3527023"/>
            <a:ext cx="41148" cy="41148"/>
          </a:xfrm>
          <a:prstGeom prst="ellipse">
            <a:avLst/>
          </a:prstGeom>
          <a:solidFill>
            <a:srgbClr val="06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215487" y="3328416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6424F"/>
                </a:solidFill>
                <a:latin typeface="Plus Jakarta Sans"/>
              </a:rPr>
              <a:t>ORCHESTRATOR · 1 agent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15487" y="3575304"/>
            <a:ext cx="6309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94E60"/>
                </a:solidFill>
                <a:latin typeface="Plus Jakarta Sans"/>
              </a:rPr>
              <a:t>reads findings · triangulates · writes outlooks · runs the engine · spawns the validator</a:t>
            </a:r>
          </a:p>
        </p:txBody>
      </p:sp>
      <p:sp>
        <p:nvSpPr>
          <p:cNvPr id="93" name="Oval 92"/>
          <p:cNvSpPr/>
          <p:nvPr/>
        </p:nvSpPr>
        <p:spPr>
          <a:xfrm>
            <a:off x="274320" y="3374136"/>
            <a:ext cx="292608" cy="292608"/>
          </a:xfrm>
          <a:prstGeom prst="ellipse">
            <a:avLst/>
          </a:prstGeom>
          <a:solidFill>
            <a:srgbClr val="FBF6EC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74320" y="33741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②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" y="4224528"/>
            <a:ext cx="5138928" cy="1517904"/>
          </a:xfrm>
          <a:prstGeom prst="roundRect">
            <a:avLst>
              <a:gd name="adj" fmla="val 9638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961948" y="4443984"/>
            <a:ext cx="234086" cy="292608"/>
          </a:xfrm>
          <a:prstGeom prst="roundRect">
            <a:avLst>
              <a:gd name="adj" fmla="val 15000"/>
            </a:avLst>
          </a:prstGeom>
          <a:solidFill>
            <a:srgbClr val="FFFDF8"/>
          </a:solidFill>
          <a:ln w="16510">
            <a:solidFill>
              <a:srgbClr val="14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1013447" y="4531766"/>
            <a:ext cx="131089" cy="0"/>
          </a:xfrm>
          <a:prstGeom prst="line">
            <a:avLst/>
          </a:prstGeom>
          <a:ln w="15240">
            <a:solidFill>
              <a:srgbClr val="1413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13447" y="4590288"/>
            <a:ext cx="131089" cy="0"/>
          </a:xfrm>
          <a:prstGeom prst="line">
            <a:avLst/>
          </a:prstGeom>
          <a:ln w="15240">
            <a:solidFill>
              <a:srgbClr val="1413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13447" y="4648809"/>
            <a:ext cx="131089" cy="0"/>
          </a:xfrm>
          <a:prstGeom prst="line">
            <a:avLst/>
          </a:prstGeom>
          <a:ln w="15240">
            <a:solidFill>
              <a:srgbClr val="1413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389888" y="4407408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③ COMPUTE — Deterministic engine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89888" y="4654296"/>
            <a:ext cx="42245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28B7B"/>
                </a:solidFill>
                <a:latin typeface="Plus Jakarta Sans"/>
              </a:rPr>
              <a:t>Python · scripts own the numbers (sum-verified) · no LLM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9264" y="4901184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fetch_ecb · fetch_competitors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pull ECB + SEC-EDGAR figures, sum-verified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" y="5024628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ingest.py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parse master table + workbook → score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9264" y="5148072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forecast.py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project the trend lines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9264" y="5271516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verify.py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re-fetch &amp; snapshot every source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9264" y="5394959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build_dashboard.py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assemble payload · merge verdicts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9264" y="5518403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publish.py</a:t>
            </a:r>
            <a:r>
              <a:rPr sz="850" b="0">
                <a:solidFill>
                  <a:srgbClr val="5F594C"/>
                </a:solidFill>
                <a:latin typeface="Plus Jakarta Sans"/>
              </a:rPr>
              <a:t>  push to the live site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980176" y="4224528"/>
            <a:ext cx="5559552" cy="1517904"/>
          </a:xfrm>
          <a:prstGeom prst="roundRect">
            <a:avLst>
              <a:gd name="adj" fmla="val 9638"/>
            </a:avLst>
          </a:prstGeom>
          <a:solidFill>
            <a:srgbClr val="FFFDF8"/>
          </a:solidFill>
          <a:ln w="19050">
            <a:solidFill>
              <a:srgbClr val="23C0E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>
            <a:off x="6400800" y="4437400"/>
            <a:ext cx="0" cy="52669"/>
          </a:xfrm>
          <a:prstGeom prst="line">
            <a:avLst/>
          </a:prstGeom>
          <a:ln w="16510">
            <a:solidFill>
              <a:srgbClr val="0B6F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6377391" y="4419843"/>
            <a:ext cx="46817" cy="46817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254496" y="4501774"/>
            <a:ext cx="292608" cy="193121"/>
          </a:xfrm>
          <a:prstGeom prst="roundRect">
            <a:avLst>
              <a:gd name="adj" fmla="val 33333"/>
            </a:avLst>
          </a:prstGeom>
          <a:solidFill>
            <a:srgbClr val="D3EFF8"/>
          </a:solidFill>
          <a:ln w="1651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6320332" y="4579022"/>
            <a:ext cx="43891" cy="43891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437376" y="4579022"/>
            <a:ext cx="43891" cy="43891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711696" y="440740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④ AUDIT — Validator workflow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11696" y="4654296"/>
            <a:ext cx="4645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28B7B"/>
                </a:solidFill>
                <a:latin typeface="Plus Jakarta Sans"/>
              </a:rPr>
              <a:t>spawned by the Orchestrator · independent LLM fact-check · outlooks + futures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36208" y="4983480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spawns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059168" y="5020056"/>
            <a:ext cx="1517904" cy="402336"/>
          </a:xfrm>
          <a:prstGeom prst="roundRect">
            <a:avLst>
              <a:gd name="adj" fmla="val 22727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6976872" y="4978908"/>
            <a:ext cx="1517904" cy="402336"/>
          </a:xfrm>
          <a:prstGeom prst="roundRect">
            <a:avLst>
              <a:gd name="adj" fmla="val 22727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894576" y="4937760"/>
            <a:ext cx="1517904" cy="402336"/>
          </a:xfrm>
          <a:prstGeom prst="roundRect">
            <a:avLst>
              <a:gd name="adj" fmla="val 22727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0" name="Connector 119"/>
          <p:cNvCxnSpPr/>
          <p:nvPr/>
        </p:nvCxnSpPr>
        <p:spPr>
          <a:xfrm>
            <a:off x="7123176" y="5037246"/>
            <a:ext cx="0" cy="36210"/>
          </a:xfrm>
          <a:prstGeom prst="line">
            <a:avLst/>
          </a:prstGeom>
          <a:ln w="16510">
            <a:solidFill>
              <a:srgbClr val="0B6F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7107082" y="5025176"/>
            <a:ext cx="32186" cy="32186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7022592" y="5081503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FFFDF8"/>
          </a:solidFill>
          <a:ln w="1651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7067854" y="5134612"/>
            <a:ext cx="30175" cy="30175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7148322" y="5134612"/>
            <a:ext cx="30175" cy="30175"/>
          </a:xfrm>
          <a:prstGeom prst="ellipse">
            <a:avLst/>
          </a:prstGeom>
          <a:solidFill>
            <a:srgbClr val="0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96912" y="4974336"/>
            <a:ext cx="1060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claim checkers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96912" y="5129784"/>
            <a:ext cx="10607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F87"/>
                </a:solidFill>
                <a:latin typeface="Plus Jakarta Sans"/>
              </a:rPr>
              <a:t>× 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77072" y="493776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928B7B"/>
                </a:solidFill>
                <a:latin typeface="Plus Jakarta Sans"/>
              </a:rPr>
              <a:t>+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869680" y="4937760"/>
            <a:ext cx="1335024" cy="402336"/>
          </a:xfrm>
          <a:prstGeom prst="roundRect">
            <a:avLst>
              <a:gd name="adj" fmla="val 22727"/>
            </a:avLst>
          </a:prstGeom>
          <a:solidFill>
            <a:srgbClr val="FBF6EC"/>
          </a:solidFill>
          <a:ln w="12700">
            <a:solidFill>
              <a:srgbClr val="928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9089136" y="5037246"/>
            <a:ext cx="0" cy="36210"/>
          </a:xfrm>
          <a:prstGeom prst="line">
            <a:avLst/>
          </a:prstGeom>
          <a:ln w="16510">
            <a:solidFill>
              <a:srgbClr val="5F59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9073042" y="5025176"/>
            <a:ext cx="32186" cy="32186"/>
          </a:xfrm>
          <a:prstGeom prst="ellipse">
            <a:avLst/>
          </a:prstGeom>
          <a:solidFill>
            <a:srgbClr val="5F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8988552" y="5081503"/>
            <a:ext cx="201168" cy="132770"/>
          </a:xfrm>
          <a:prstGeom prst="roundRect">
            <a:avLst>
              <a:gd name="adj" fmla="val 33333"/>
            </a:avLst>
          </a:prstGeom>
          <a:solidFill>
            <a:srgbClr val="FFFDF8"/>
          </a:solidFill>
          <a:ln w="16510">
            <a:solidFill>
              <a:srgbClr val="5F5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9033814" y="5134612"/>
            <a:ext cx="30175" cy="30175"/>
          </a:xfrm>
          <a:prstGeom prst="ellipse">
            <a:avLst/>
          </a:prstGeom>
          <a:solidFill>
            <a:srgbClr val="5F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9114282" y="5134612"/>
            <a:ext cx="30175" cy="30175"/>
          </a:xfrm>
          <a:prstGeom prst="ellipse">
            <a:avLst/>
          </a:prstGeom>
          <a:solidFill>
            <a:srgbClr val="5F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253728" y="4937760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6130D"/>
                </a:solidFill>
                <a:latin typeface="Plus Jakarta Sans"/>
              </a:rPr>
              <a:t>Writer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54496" y="5413248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F594C"/>
                </a:solidFill>
                <a:latin typeface="Plus Jakarta Sans"/>
              </a:rPr>
              <a:t>N = one per 6–12mth outlook + one per 2–5yr future; paywalled cites count if snapshotted / in the KB. </a:t>
            </a:r>
            <a:r>
              <a:rPr sz="800" b="0">
                <a:solidFill>
                  <a:srgbClr val="928B7B"/>
                </a:solidFill>
                <a:latin typeface="Plus Jakarta Sans"/>
              </a:rPr>
              <a:t>Writer → outlook_validation.json + futures_validation.json; the engine merges (✓ / ⚠).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895447" y="5870448"/>
            <a:ext cx="3063240" cy="420624"/>
          </a:xfrm>
          <a:prstGeom prst="roundRect">
            <a:avLst>
              <a:gd name="adj" fmla="val 282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986887" y="587044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🖥  Live dashboard</a:t>
            </a:r>
            <a:r>
              <a:rPr sz="1000" b="0">
                <a:solidFill>
                  <a:srgbClr val="5F594C"/>
                </a:solidFill>
                <a:latin typeface="Plus Jakarta Sans"/>
              </a:rPr>
              <a:t> · 8 views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33007" y="5870448"/>
            <a:ext cx="3063240" cy="420624"/>
          </a:xfrm>
          <a:prstGeom prst="roundRect">
            <a:avLst>
              <a:gd name="adj" fmla="val 282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324447" y="587044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📄  Board brief</a:t>
            </a:r>
            <a:r>
              <a:rPr sz="1000" b="0">
                <a:solidFill>
                  <a:srgbClr val="5F594C"/>
                </a:solidFill>
                <a:latin typeface="Plus Jakarta Sans"/>
              </a:rPr>
              <a:t> · BLUF + Top-3</a:t>
            </a:r>
          </a:p>
        </p:txBody>
      </p:sp>
      <p:sp>
        <p:nvSpPr>
          <p:cNvPr id="140" name="Oval 139"/>
          <p:cNvSpPr/>
          <p:nvPr/>
        </p:nvSpPr>
        <p:spPr>
          <a:xfrm>
            <a:off x="274320" y="5934456"/>
            <a:ext cx="292608" cy="292608"/>
          </a:xfrm>
          <a:prstGeom prst="ellipse">
            <a:avLst/>
          </a:prstGeom>
          <a:solidFill>
            <a:srgbClr val="FBF6EC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74320" y="59344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594C"/>
                </a:solidFill>
                <a:latin typeface="Plus Jakarta Sans"/>
              </a:rPr>
              <a:t>⑤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6095847" y="1975104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372906" y="2084832"/>
            <a:ext cx="9452283" cy="0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372906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948286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523667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099047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674428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249809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825189" y="2084832"/>
            <a:ext cx="0" cy="10972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372906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948286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23667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099047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674428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249809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825189" y="2926080"/>
            <a:ext cx="0" cy="15544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372906" y="3081528"/>
            <a:ext cx="9452283" cy="0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6095847" y="3081528"/>
            <a:ext cx="0" cy="155448"/>
          </a:xfrm>
          <a:prstGeom prst="line">
            <a:avLst/>
          </a:prstGeom>
          <a:ln w="19050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205575" y="297180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28B7B"/>
                </a:solidFill>
                <a:latin typeface="Plus Jakarta Sans"/>
              </a:rPr>
              <a:t>findings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6095847" y="3803904"/>
            <a:ext cx="0" cy="210312"/>
          </a:xfrm>
          <a:prstGeom prst="line">
            <a:avLst/>
          </a:prstGeom>
          <a:ln w="19050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227832" y="4014216"/>
            <a:ext cx="5532120" cy="0"/>
          </a:xfrm>
          <a:prstGeom prst="line">
            <a:avLst/>
          </a:prstGeom>
          <a:ln w="19050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227832" y="4014216"/>
            <a:ext cx="0" cy="210312"/>
          </a:xfrm>
          <a:prstGeom prst="line">
            <a:avLst/>
          </a:prstGeom>
          <a:ln w="19050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59952" y="4014216"/>
            <a:ext cx="0" cy="210312"/>
          </a:xfrm>
          <a:prstGeom prst="line">
            <a:avLst/>
          </a:prstGeom>
          <a:ln w="19050">
            <a:solidFill>
              <a:srgbClr val="23C0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113199" y="3813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F594C"/>
                </a:solidFill>
                <a:latin typeface="Plus Jakarta Sans"/>
              </a:rPr>
              <a:t>runs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79259" y="3813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6F87"/>
                </a:solidFill>
                <a:latin typeface="Plus Jakarta Sans"/>
              </a:rPr>
              <a:t>spawns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3227832" y="5742432"/>
            <a:ext cx="0" cy="64008"/>
          </a:xfrm>
          <a:prstGeom prst="line">
            <a:avLst/>
          </a:prstGeom>
          <a:ln w="19050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227832" y="5806440"/>
            <a:ext cx="4536795" cy="0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427067" y="5806440"/>
            <a:ext cx="0" cy="6400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764627" y="5806440"/>
            <a:ext cx="0" cy="64008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HOW AN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Fan out, search deep — never quit at the first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7506F"/>
                </a:solidFill>
                <a:latin typeface="Plus Jakarta Sans"/>
              </a:rPr>
              <a:t>Worked example — the Tenders agent (A2)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66543"/>
            <a:ext cx="2615184" cy="2414016"/>
          </a:xfrm>
          <a:prstGeom prst="roundRect">
            <a:avLst>
              <a:gd name="adj" fmla="val 60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340863"/>
            <a:ext cx="420624" cy="420624"/>
          </a:xfrm>
          <a:prstGeom prst="ellipse">
            <a:avLst/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340863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9503"/>
            <a:ext cx="21122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6130D"/>
                </a:solidFill>
                <a:latin typeface="Plus Jakarta Sans"/>
              </a:rPr>
              <a:t>TRIAGE &amp; FAN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19856"/>
            <a:ext cx="21396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Enumerate the live set, then spawn one subagent per portal / country — each with a fresh context to own its niche.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2322576"/>
            <a:ext cx="265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89F8C"/>
                </a:solidFill>
                <a:latin typeface="Plus Jakarta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066543"/>
            <a:ext cx="2615184" cy="2414016"/>
          </a:xfrm>
          <a:prstGeom prst="roundRect">
            <a:avLst>
              <a:gd name="adj" fmla="val 60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8456" y="2340863"/>
            <a:ext cx="420624" cy="420624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2340863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889503"/>
            <a:ext cx="21122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6130D"/>
                </a:solidFill>
                <a:latin typeface="Plus Jakarta Sans"/>
              </a:rPr>
              <a:t>SEARCH DEEP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419856"/>
            <a:ext cx="21396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TED API + national portals + bank-owned pages, in the local language — buyer, value, deadline, winner, dated &amp; linked.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322576"/>
            <a:ext cx="265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89F8C"/>
                </a:solidFill>
                <a:latin typeface="Plus Jakarta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066543"/>
            <a:ext cx="2615184" cy="2414016"/>
          </a:xfrm>
          <a:prstGeom prst="roundRect">
            <a:avLst>
              <a:gd name="adj" fmla="val 60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55664" y="2340863"/>
            <a:ext cx="420624" cy="420624"/>
          </a:xfrm>
          <a:prstGeom prst="ellipse">
            <a:avLst/>
          </a:prstGeom>
          <a:solidFill>
            <a:srgbClr val="F0C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2340863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89503"/>
            <a:ext cx="21122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6130D"/>
                </a:solidFill>
                <a:latin typeface="Plus Jakarta Sans"/>
              </a:rPr>
              <a:t>HIT A WALL?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19856"/>
            <a:ext cx="21396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API → a Google cache → a real browser that renders JavaScript. Still gated (login/PDF)? Flag it for a human — never skip.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322576"/>
            <a:ext cx="265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89F8C"/>
                </a:solidFill>
                <a:latin typeface="Plus Jakarta San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1" y="2066543"/>
            <a:ext cx="2615184" cy="2414016"/>
          </a:xfrm>
          <a:prstGeom prst="roundRect">
            <a:avLst>
              <a:gd name="adj" fmla="val 606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62872" y="2340863"/>
            <a:ext cx="420624" cy="420624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62872" y="2340863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889503"/>
            <a:ext cx="21122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6130D"/>
                </a:solidFill>
                <a:latin typeface="Plus Jakarta Sans"/>
              </a:rPr>
              <a:t>REDUCE &amp;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3419856"/>
            <a:ext cx="213969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The parent dedups across niches, triangulates, and writes one cited findings file. “A gap is a prompt to try harder.”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626864"/>
            <a:ext cx="6903720" cy="1078992"/>
          </a:xfrm>
          <a:prstGeom prst="roundRect">
            <a:avLst>
              <a:gd name="adj" fmla="val 11864"/>
            </a:avLst>
          </a:prstGeom>
          <a:solidFill>
            <a:srgbClr val="FBF6EC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75488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D5A1C"/>
                </a:solidFill>
                <a:latin typeface="Plus Jakarta Sans"/>
              </a:rPr>
              <a:t>The exhaustiveness standard   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3+ search angles (keywords, languages, sources) · go one level deeper · use proxies. Only then declare a genuine gap — with the next-best alternative named.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4626864"/>
            <a:ext cx="4023360" cy="1078992"/>
          </a:xfrm>
          <a:prstGeom prst="roundRect">
            <a:avLst>
              <a:gd name="adj" fmla="val 11864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475488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In practice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F5F1E8"/>
                </a:solidFill>
                <a:latin typeface="Plus Jakarta Sans"/>
              </a:rPr>
              <a:t>PrivatBank’s tenders sit behind a JavaScript-rendered portal — read via a browser, it surfaced a live recycling-ATM prequalification in a 7,401-ATM fleet.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② SYNTHESIS — THE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Confidence is earned by agreement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212080" cy="3840480"/>
          </a:xfrm>
          <a:prstGeom prst="roundRect">
            <a:avLst>
              <a:gd name="adj" fmla="val 3809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1167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30D"/>
                </a:solidFill>
                <a:latin typeface="Plus Jakarta Sans"/>
              </a:rPr>
              <a:t>From six streams to one ranked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28600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CFE1F3"/>
          </a:solidFill>
          <a:ln w="12700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7506F"/>
                </a:solidFill>
                <a:latin typeface="Plus Jakarta Sans"/>
              </a:rPr>
              <a:t>A2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92807" y="2514600"/>
            <a:ext cx="2267713" cy="1234439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2688" y="306324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063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6F87"/>
                </a:solidFill>
                <a:latin typeface="Plus Jakarta Sans"/>
              </a:rPr>
              <a:t>A1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92807" y="3291840"/>
            <a:ext cx="2267713" cy="457199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2688" y="384048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F8E9A0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8404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A5C00"/>
                </a:solidFill>
                <a:latin typeface="Plus Jakarta Sans"/>
              </a:rPr>
              <a:t>A5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92807" y="3749039"/>
            <a:ext cx="2267713" cy="320041"/>
          </a:xfrm>
          <a:prstGeom prst="line">
            <a:avLst/>
          </a:prstGeom>
          <a:ln w="15875">
            <a:solidFill>
              <a:srgbClr val="C9B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78808" y="3520439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3C0E2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78808" y="3520439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485A"/>
                </a:solidFill>
                <a:latin typeface="Plus Jakarta San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3484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One agent alone caps a signal at </a:t>
            </a:r>
            <a:r>
              <a:rPr sz="1200" b="1">
                <a:solidFill>
                  <a:srgbClr val="7A5C00"/>
                </a:solidFill>
                <a:latin typeface="Plus Jakarta Sans"/>
              </a:rPr>
              <a:t>Medium</a:t>
            </a:r>
            <a:r>
              <a:rPr sz="1200" b="0">
                <a:solidFill>
                  <a:srgbClr val="5F594C"/>
                </a:solidFill>
                <a:latin typeface="Plus Jakarta Sans"/>
              </a:rPr>
              <a:t>. Two or more independent agents — different evidence types — on the same need makes it eligible for </a:t>
            </a:r>
            <a:r>
              <a:rPr sz="1200" b="1">
                <a:solidFill>
                  <a:srgbClr val="3D5A1C"/>
                </a:solidFill>
                <a:latin typeface="Plus Jakarta Sans"/>
              </a:rPr>
              <a:t>High</a:t>
            </a:r>
            <a:r>
              <a:rPr sz="1200" b="0">
                <a:solidFill>
                  <a:srgbClr val="5F594C"/>
                </a:solidFill>
                <a:latin typeface="Plus Jakarta Sans"/>
              </a:rPr>
              <a:t>. Only the orchestrator promotes it, after re-checking the key figure on the live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737360"/>
            <a:ext cx="5650992" cy="1481328"/>
          </a:xfrm>
          <a:prstGeom prst="roundRect">
            <a:avLst>
              <a:gd name="adj" fmla="val 987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9320" y="1737360"/>
            <a:ext cx="109728" cy="1481328"/>
          </a:xfrm>
          <a:prstGeom prst="roundRect">
            <a:avLst>
              <a:gd name="adj" fmla="val 41666"/>
            </a:avLst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938528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30D"/>
                </a:solidFill>
                <a:latin typeface="Plus Jakarta Sans"/>
              </a:rPr>
              <a:t>By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395728"/>
            <a:ext cx="50840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How well-proven a signal is — confidence weight plus a bonus for each independent agent that confirms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401568"/>
            <a:ext cx="5650992" cy="1481328"/>
          </a:xfrm>
          <a:prstGeom prst="roundRect">
            <a:avLst>
              <a:gd name="adj" fmla="val 987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89320" y="3401568"/>
            <a:ext cx="109728" cy="1481328"/>
          </a:xfrm>
          <a:prstGeom prst="roundRect">
            <a:avLst>
              <a:gd name="adj" fmla="val 41666"/>
            </a:avLst>
          </a:prstGeom>
          <a:solidFill>
            <a:srgbClr val="BF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0216" y="3602736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30D"/>
                </a:solidFill>
                <a:latin typeface="Plus Jakarta Sans"/>
              </a:rPr>
              <a:t>By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059935"/>
            <a:ext cx="50840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The risk-adjusted prize — deal-size × win-probability × confidence. Threats &amp; macro trends score zero, so noise can never outrank a concrete biddable deal.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5065776"/>
            <a:ext cx="5650992" cy="694944"/>
          </a:xfrm>
          <a:prstGeom prst="roundRect">
            <a:avLst>
              <a:gd name="adj" fmla="val 18421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0216" y="5065776"/>
            <a:ext cx="51023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5F1E8"/>
                </a:solidFill>
                <a:latin typeface="Plus Jakarta Sans"/>
              </a:rPr>
              <a:t>The brief leads with value; the dashboard lets you toggle between both lenses.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Four layers between a claim and your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6766560" cy="877824"/>
          </a:xfrm>
          <a:prstGeom prst="roundRect">
            <a:avLst>
              <a:gd name="adj" fmla="val 14583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777240" cy="877824"/>
          </a:xfrm>
          <a:prstGeom prst="roundRect">
            <a:avLst>
              <a:gd name="adj" fmla="val 7058"/>
            </a:avLst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7772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55648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CITE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48256"/>
            <a:ext cx="5577840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Every claim carries a named, dated, clickable source. The cardinal rule: never invent a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78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28B7B"/>
                </a:solidFill>
                <a:latin typeface="Plus Jakarta San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6766560" cy="877824"/>
          </a:xfrm>
          <a:prstGeom prst="roundRect">
            <a:avLst>
              <a:gd name="adj" fmla="val 14583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651760"/>
            <a:ext cx="777240" cy="877824"/>
          </a:xfrm>
          <a:prstGeom prst="roundRect">
            <a:avLst>
              <a:gd name="adj" fmla="val 7058"/>
            </a:avLst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7772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7977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RE-FETCH &amp;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072384"/>
            <a:ext cx="5577840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A deterministic trust pass re-opens every cited URL each week and saves a timestamped copy — 274 of 298 reachable, defending against link-rot.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50215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28B7B"/>
                </a:solidFill>
                <a:latin typeface="Plus Jakarta San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75887"/>
            <a:ext cx="6766560" cy="877824"/>
          </a:xfrm>
          <a:prstGeom prst="roundRect">
            <a:avLst>
              <a:gd name="adj" fmla="val 14583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675887"/>
            <a:ext cx="777240" cy="877824"/>
          </a:xfrm>
          <a:prstGeom prst="roundRect">
            <a:avLst>
              <a:gd name="adj" fmla="val 7058"/>
            </a:avLst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675887"/>
            <a:ext cx="7772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803903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FIGURE RE-CHECK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096511"/>
            <a:ext cx="5577840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Before any signal is “decision-grade”, the orchestrator re-opens a primary source and confirms the key number with a quoted snippet — or downgrades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26279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28B7B"/>
                </a:solidFill>
                <a:latin typeface="Plus Jakarta San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00016"/>
            <a:ext cx="6766560" cy="877824"/>
          </a:xfrm>
          <a:prstGeom prst="roundRect">
            <a:avLst>
              <a:gd name="adj" fmla="val 14583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928" y="4700016"/>
            <a:ext cx="777240" cy="877824"/>
          </a:xfrm>
          <a:prstGeom prst="roundRect">
            <a:avLst>
              <a:gd name="adj" fmla="val 7058"/>
            </a:avLst>
          </a:prstGeom>
          <a:solidFill>
            <a:srgbClr val="BF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700016"/>
            <a:ext cx="7772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828031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INDEPENDENT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5120640"/>
            <a:ext cx="5577840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A separate, adversarial pass traces every forward-looking call back to its sources and flags anything that does not trace — visibly, never hidden.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1627632"/>
            <a:ext cx="4005072" cy="4114800"/>
          </a:xfrm>
          <a:prstGeom prst="roundRect">
            <a:avLst>
              <a:gd name="adj" fmla="val 4109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18704" y="1938528"/>
            <a:ext cx="310896" cy="310896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18704" y="233172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5F1E8"/>
                </a:solidFill>
                <a:latin typeface="Plus Jakarta Sans"/>
              </a:rPr>
              <a:t>The engine fabricates nothing.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3383280"/>
            <a:ext cx="3474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B9B2A4"/>
                </a:solidFill>
                <a:latin typeface="Plus Jakarta Sans"/>
              </a:rPr>
              <a:t>It only classifies and does arithmetic on values that already exist in a source. Every number on the dashboard can be opened, re-checked, and audited.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18704" y="4983480"/>
            <a:ext cx="3456432" cy="566928"/>
          </a:xfrm>
          <a:prstGeom prst="roundRect">
            <a:avLst>
              <a:gd name="adj" fmla="val 19354"/>
            </a:avLst>
          </a:prstGeom>
          <a:solidFill>
            <a:srgbClr val="1E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18704" y="4983480"/>
            <a:ext cx="345643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Reachability is automatic. </a:t>
            </a:r>
            <a:r>
              <a:rPr sz="1100" b="0">
                <a:solidFill>
                  <a:srgbClr val="F5F1E8"/>
                </a:solidFill>
                <a:latin typeface="Plus Jakarta Sans"/>
              </a:rPr>
              <a:t>Figure accuracy is signed off.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④ THE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An independent fact-checker,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5F594C"/>
                </a:solidFill>
                <a:latin typeface="Plus Jakarta Sans"/>
              </a:rPr>
              <a:t>The weak point of any analysis is that the author proofreads their own work. So a separate set of agents re-checks the forward-looking calls — with one job: confirm every claim traces to its source, and flag the ones that don’t.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05456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553897"/>
                </a:solidFill>
                <a:latin typeface="Plus Jakarta Sans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6812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Fresh agents, spawned with a blank slate and an adversarial mandate — one fact-checker per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39312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553897"/>
                </a:solidFill>
                <a:latin typeface="Plus Jakarta Sans"/>
              </a:rPr>
              <a:t>How it stays independent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68496"/>
            <a:ext cx="6812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They re-read each call against the primary documents it cites — a fresh, separate pass that checks the claims, not the author. Like a code reviewer who didn’t write the code: independence is fresh context, not a different schedule.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73168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553897"/>
                </a:solidFill>
                <a:latin typeface="Plus Jakarta Sans"/>
              </a:rPr>
              <a:t>What it 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02352"/>
            <a:ext cx="68122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Each outlook is marked “✓ independently validated”; any claim it can’t trace shows as a visible “⚠ not yet linked to a source” caveat — shown to the reader, never hidden. Its verdict overrides the analyst’s self-assessment.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6096" y="1627632"/>
            <a:ext cx="4005072" cy="2331720"/>
          </a:xfrm>
          <a:prstGeom prst="roundRect">
            <a:avLst>
              <a:gd name="adj" fmla="val 6274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00416" y="1883664"/>
            <a:ext cx="1554480" cy="310896"/>
          </a:xfrm>
          <a:prstGeom prst="roundRect">
            <a:avLst>
              <a:gd name="adj" fmla="val 29411"/>
            </a:avLst>
          </a:prstGeom>
          <a:solidFill>
            <a:srgbClr val="D2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0416" y="188366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D5A1C"/>
                </a:solidFill>
                <a:latin typeface="Plus Jakarta Sans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6" y="228600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Ukraine · ATM modernization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651760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594C"/>
                </a:solidFill>
                <a:latin typeface="Plus Jakarta Sans"/>
              </a:rPr>
              <a:t>Reasoned outlook with cited drivers, projected range, and an evidence trail.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3310128"/>
            <a:ext cx="3456432" cy="292608"/>
          </a:xfrm>
          <a:prstGeom prst="roundRect">
            <a:avLst>
              <a:gd name="adj" fmla="val 25000"/>
            </a:avLst>
          </a:prstGeom>
          <a:solidFill>
            <a:srgbClr val="D2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0144" y="3310128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D5A1C"/>
                </a:solidFill>
                <a:latin typeface="Plus Jakarta Sans"/>
              </a:rPr>
              <a:t>✓ Independently 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416" y="3639312"/>
            <a:ext cx="3456432" cy="292608"/>
          </a:xfrm>
          <a:prstGeom prst="roundRect">
            <a:avLst>
              <a:gd name="adj" fmla="val 25000"/>
            </a:avLst>
          </a:prstGeom>
          <a:solidFill>
            <a:srgbClr val="F6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0144" y="3639312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4A36"/>
                </a:solidFill>
                <a:latin typeface="Plus Jakarta Sans"/>
              </a:rPr>
              <a:t>⚠ 1 claim not yet linked to a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6096" y="4114800"/>
            <a:ext cx="4005072" cy="1627632"/>
          </a:xfrm>
          <a:prstGeom prst="roundRect">
            <a:avLst>
              <a:gd name="adj" fmla="val 8988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0416" y="4315968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This week’s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0416" y="468172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5F1E8"/>
                </a:solidFill>
                <a:latin typeface="Plus Jakarta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6" y="5257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B2A4"/>
                </a:solidFill>
                <a:latin typeface="Plus Jakarta Sans"/>
              </a:rPr>
              <a:t>outlooks audited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468172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5F1E8"/>
                </a:solidFill>
                <a:latin typeface="Plus Jakarta Sans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5257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B2A4"/>
                </a:solidFill>
                <a:latin typeface="Plus Jakarta Sans"/>
              </a:rPr>
              <a:t>fully grounded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468172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5F1E8"/>
                </a:solidFill>
                <a:latin typeface="Plus Jakarta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5257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B2A4"/>
                </a:solidFill>
                <a:latin typeface="Plus Jakarta Sans"/>
              </a:rPr>
              <a:t>honest caveat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⑤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One live dashboard, seven questions answered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6272784" cy="4649002"/>
          </a:xfrm>
          <a:prstGeom prst="roundRect">
            <a:avLst>
              <a:gd name="adj" fmla="val 2360"/>
            </a:avLst>
          </a:prstGeom>
          <a:solidFill>
            <a:srgbClr val="FFFDF8"/>
          </a:solidFill>
          <a:ln w="15875">
            <a:solidFill>
              <a:srgbClr val="CCC1A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6272784" cy="329184"/>
          </a:xfrm>
          <a:prstGeom prst="roundRect">
            <a:avLst>
              <a:gd name="adj" fmla="val 33333"/>
            </a:avLst>
          </a:prstGeom>
          <a:solidFill>
            <a:srgbClr val="2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83080"/>
            <a:ext cx="91440" cy="91440"/>
          </a:xfrm>
          <a:prstGeom prst="ellipse">
            <a:avLst/>
          </a:prstGeom>
          <a:solidFill>
            <a:srgbClr val="E2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5256" y="1783080"/>
            <a:ext cx="91440" cy="91440"/>
          </a:xfrm>
          <a:prstGeom prst="ellipse">
            <a:avLst/>
          </a:prstGeom>
          <a:solidFill>
            <a:srgbClr val="F0C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" y="1783080"/>
            <a:ext cx="91440" cy="91440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16736" y="1737360"/>
            <a:ext cx="4809744" cy="182879"/>
          </a:xfrm>
          <a:prstGeom prst="roundRect">
            <a:avLst>
              <a:gd name="adj" fmla="val 30000"/>
            </a:avLst>
          </a:prstGeom>
          <a:solidFill>
            <a:srgbClr val="38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16736" y="1664208"/>
            <a:ext cx="48097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CFC8BC"/>
                </a:solidFill>
                <a:latin typeface="Plus Jakarta Sans"/>
              </a:rPr>
              <a:t>printec-market-research.vercel.app</a:t>
            </a:r>
          </a:p>
        </p:txBody>
      </p:sp>
      <p:pic>
        <p:nvPicPr>
          <p:cNvPr id="12" name="Picture 11" descr="dash_this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126480" cy="4191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" y="6331498"/>
            <a:ext cx="6272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928B7B"/>
                </a:solidFill>
                <a:latin typeface="Plus Jakarta Sans"/>
              </a:rPr>
              <a:t>Actual live view — “This week”, </a:t>
            </a:r>
            <a:r>
              <a:rPr sz="950" b="0">
                <a:solidFill>
                  <a:srgbClr val="928B7B"/>
                </a:solidFill>
                <a:latin typeface="Plus Jakarta Sans"/>
              </a:rPr>
              <a:t>week of 2026-06-13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160">
                <a:solidFill>
                  <a:srgbClr val="0B6F87"/>
                </a:solidFill>
                <a:latin typeface="Plus Jakarta Sans"/>
              </a:rPr>
              <a:t>THE SEVEN VIEWS</a:t>
            </a:r>
          </a:p>
        </p:txBody>
      </p:sp>
      <p:sp>
        <p:nvSpPr>
          <p:cNvPr id="15" name="Oval 14"/>
          <p:cNvSpPr/>
          <p:nvPr/>
        </p:nvSpPr>
        <p:spPr>
          <a:xfrm>
            <a:off x="7077456" y="2176272"/>
            <a:ext cx="292608" cy="292608"/>
          </a:xfrm>
          <a:prstGeom prst="ellipse">
            <a:avLst/>
          </a:prstGeom>
          <a:solidFill>
            <a:srgbClr val="D3EFF8"/>
          </a:solidFill>
          <a:ln w="12700">
            <a:solidFill>
              <a:srgbClr val="0B6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6" y="21762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B6F87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39696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363724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what changed — and what is hot now</a:t>
            </a:r>
          </a:p>
        </p:txBody>
      </p:sp>
      <p:sp>
        <p:nvSpPr>
          <p:cNvPr id="19" name="Oval 18"/>
          <p:cNvSpPr/>
          <p:nvPr/>
        </p:nvSpPr>
        <p:spPr>
          <a:xfrm>
            <a:off x="7077456" y="2619756"/>
            <a:ext cx="292608" cy="292608"/>
          </a:xfrm>
          <a:prstGeom prst="ellipse">
            <a:avLst/>
          </a:prstGeom>
          <a:solidFill>
            <a:srgbClr val="D2E2B4"/>
          </a:solidFill>
          <a:ln w="12700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7456" y="26197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D5A1C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583179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Countries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807208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where to focus</a:t>
            </a:r>
          </a:p>
        </p:txBody>
      </p:sp>
      <p:sp>
        <p:nvSpPr>
          <p:cNvPr id="23" name="Oval 22"/>
          <p:cNvSpPr/>
          <p:nvPr/>
        </p:nvSpPr>
        <p:spPr>
          <a:xfrm>
            <a:off x="7077456" y="3063239"/>
            <a:ext cx="292608" cy="292608"/>
          </a:xfrm>
          <a:prstGeom prst="ellipse">
            <a:avLst/>
          </a:prstGeom>
          <a:solidFill>
            <a:srgbClr val="CFE1F3"/>
          </a:solidFill>
          <a:ln w="12700">
            <a:solidFill>
              <a:srgbClr val="27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77456" y="306323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506F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026663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250691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demand by Printec solution</a:t>
            </a:r>
          </a:p>
        </p:txBody>
      </p:sp>
      <p:sp>
        <p:nvSpPr>
          <p:cNvPr id="27" name="Oval 26"/>
          <p:cNvSpPr/>
          <p:nvPr/>
        </p:nvSpPr>
        <p:spPr>
          <a:xfrm>
            <a:off x="7077456" y="3506723"/>
            <a:ext cx="292608" cy="292608"/>
          </a:xfrm>
          <a:prstGeom prst="ellipse">
            <a:avLst/>
          </a:prstGeom>
          <a:solidFill>
            <a:srgbClr val="F4D9CE"/>
          </a:solidFill>
          <a:ln w="12700">
            <a:solidFill>
              <a:srgbClr val="9C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6" y="350672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C4A36"/>
                </a:solidFill>
                <a:latin typeface="Plus Jakarta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470147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Competition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694175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where rivals are strong vs. thin</a:t>
            </a:r>
          </a:p>
        </p:txBody>
      </p:sp>
      <p:sp>
        <p:nvSpPr>
          <p:cNvPr id="31" name="Oval 30"/>
          <p:cNvSpPr/>
          <p:nvPr/>
        </p:nvSpPr>
        <p:spPr>
          <a:xfrm>
            <a:off x="7077456" y="3950207"/>
            <a:ext cx="292608" cy="292608"/>
          </a:xfrm>
          <a:prstGeom prst="ellipse">
            <a:avLst/>
          </a:prstGeom>
          <a:solidFill>
            <a:srgbClr val="F8E9A0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77456" y="3950207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7A5C00"/>
                </a:solidFill>
                <a:latin typeface="Plus Jakarta Sa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913632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Accounts &amp; deadlines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137659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who to approach, and by when</a:t>
            </a:r>
          </a:p>
        </p:txBody>
      </p:sp>
      <p:sp>
        <p:nvSpPr>
          <p:cNvPr id="35" name="Oval 34"/>
          <p:cNvSpPr/>
          <p:nvPr/>
        </p:nvSpPr>
        <p:spPr>
          <a:xfrm>
            <a:off x="7077456" y="4393692"/>
            <a:ext cx="292608" cy="292608"/>
          </a:xfrm>
          <a:prstGeom prst="ellipse">
            <a:avLst/>
          </a:prstGeom>
          <a:solidFill>
            <a:srgbClr val="E0D4F4"/>
          </a:solidFill>
          <a:ln w="12700">
            <a:solidFill>
              <a:srgbClr val="553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77456" y="43936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53897"/>
                </a:solidFill>
                <a:latin typeface="Plus Jakarta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357116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Outlook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4581144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where each market is heading, and why</a:t>
            </a:r>
          </a:p>
        </p:txBody>
      </p:sp>
      <p:sp>
        <p:nvSpPr>
          <p:cNvPr id="39" name="Oval 38"/>
          <p:cNvSpPr/>
          <p:nvPr/>
        </p:nvSpPr>
        <p:spPr>
          <a:xfrm>
            <a:off x="7077456" y="4837176"/>
            <a:ext cx="292608" cy="292608"/>
          </a:xfrm>
          <a:prstGeom prst="ellipse">
            <a:avLst/>
          </a:prstGeom>
          <a:solidFill>
            <a:srgbClr val="D2E2B4"/>
          </a:solidFill>
          <a:ln w="12700">
            <a:solidFill>
              <a:srgbClr val="3D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77456" y="48371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D5A1C"/>
                </a:solidFill>
                <a:latin typeface="Plus Jakarta Sans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800600"/>
            <a:ext cx="4096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30D"/>
                </a:solidFill>
                <a:latin typeface="Plus Jakarta Sans"/>
              </a:rPr>
              <a:t>Patterns &amp;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5024628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F594C"/>
                </a:solidFill>
                <a:latin typeface="Plus Jakarta Sans"/>
              </a:rPr>
              <a:t>how it fits the long-run 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77456" y="5358384"/>
            <a:ext cx="4553712" cy="841248"/>
          </a:xfrm>
          <a:prstGeom prst="roundRect">
            <a:avLst>
              <a:gd name="adj" fmla="val 15217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5577840"/>
            <a:ext cx="201168" cy="201168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07808" y="5477256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F5F1E8"/>
                </a:solidFill>
                <a:latin typeface="Plus Jakarta Sans"/>
              </a:rPr>
              <a:t>Live &amp; self-updating  </a:t>
            </a:r>
            <a:r>
              <a:rPr sz="950" b="0">
                <a:solidFill>
                  <a:srgbClr val="B9B2A4"/>
                </a:solidFill>
                <a:latin typeface="Plus Jakarta Sans"/>
              </a:rPr>
              <a:t>— new week every Friday, no redeploy; time-travel to any past week; every figure one click from its source.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A standing weekly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594C"/>
                </a:solidFill>
                <a:latin typeface="Plus Jakarta Sans"/>
              </a:rPr>
              <a:t>Agents run through the week on their own schedules; Friday synthesises, validates, and publishes — automatically.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246120"/>
            <a:ext cx="10469880" cy="0"/>
          </a:xfrm>
          <a:prstGeom prst="line">
            <a:avLst/>
          </a:prstGeom>
          <a:ln w="31750">
            <a:solidFill>
              <a:srgbClr val="E7DD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81328" y="3127248"/>
            <a:ext cx="237744" cy="237744"/>
          </a:xfrm>
          <a:prstGeom prst="ellipse">
            <a:avLst/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920239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CF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202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7506F"/>
                </a:solidFill>
                <a:latin typeface="Plus Jakarta Sans"/>
              </a:rPr>
              <a:t>MON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2286000"/>
            <a:ext cx="0" cy="841248"/>
          </a:xfrm>
          <a:prstGeom prst="line">
            <a:avLst/>
          </a:prstGeom>
          <a:ln w="19050">
            <a:solidFill>
              <a:srgbClr val="2750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6557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Tenders &amp;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Procurement</a:t>
            </a:r>
          </a:p>
        </p:txBody>
      </p:sp>
      <p:sp>
        <p:nvSpPr>
          <p:cNvPr id="12" name="Oval 11"/>
          <p:cNvSpPr/>
          <p:nvPr/>
        </p:nvSpPr>
        <p:spPr>
          <a:xfrm>
            <a:off x="3127248" y="3127248"/>
            <a:ext cx="237744" cy="237744"/>
          </a:xfrm>
          <a:prstGeom prst="ellipse">
            <a:avLst/>
          </a:prstGeom>
          <a:solidFill>
            <a:srgbClr val="F0C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06039" y="1920239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8E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39" y="19202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A5C00"/>
                </a:solidFill>
                <a:latin typeface="Plus Jakarta Sans"/>
              </a:rPr>
              <a:t>TUE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2286000"/>
            <a:ext cx="0" cy="841248"/>
          </a:xfrm>
          <a:prstGeom prst="line">
            <a:avLst/>
          </a:prstGeom>
          <a:ln w="19050">
            <a:solidFill>
              <a:srgbClr val="7A5C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4560" y="346557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Jobs &amp;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Leadership</a:t>
            </a:r>
          </a:p>
        </p:txBody>
      </p:sp>
      <p:sp>
        <p:nvSpPr>
          <p:cNvPr id="17" name="Oval 16"/>
          <p:cNvSpPr/>
          <p:nvPr/>
        </p:nvSpPr>
        <p:spPr>
          <a:xfrm>
            <a:off x="4773168" y="3127248"/>
            <a:ext cx="237744" cy="237744"/>
          </a:xfrm>
          <a:prstGeom prst="ellipse">
            <a:avLst/>
          </a:prstGeom>
          <a:solidFill>
            <a:srgbClr val="E2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51959" y="1920239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19202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C4A36"/>
                </a:solidFill>
                <a:latin typeface="Plus Jakarta Sans"/>
              </a:rPr>
              <a:t>WED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92040" y="2286000"/>
            <a:ext cx="0" cy="841248"/>
          </a:xfrm>
          <a:prstGeom prst="line">
            <a:avLst/>
          </a:prstGeom>
          <a:ln w="19050">
            <a:solidFill>
              <a:srgbClr val="9C4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79" y="346557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Vendors &amp;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Competitors</a:t>
            </a:r>
          </a:p>
        </p:txBody>
      </p:sp>
      <p:sp>
        <p:nvSpPr>
          <p:cNvPr id="22" name="Oval 21"/>
          <p:cNvSpPr/>
          <p:nvPr/>
        </p:nvSpPr>
        <p:spPr>
          <a:xfrm>
            <a:off x="8659367" y="3127248"/>
            <a:ext cx="237744" cy="237744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38160" y="1920239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9202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3C0E2"/>
                </a:solidFill>
                <a:latin typeface="Plus Jakarta Sans"/>
              </a:rPr>
              <a:t>FRI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0" y="2286000"/>
            <a:ext cx="0" cy="841248"/>
          </a:xfrm>
          <a:prstGeom prst="line">
            <a:avLst/>
          </a:prstGeom>
          <a:ln w="19050">
            <a:solidFill>
              <a:srgbClr val="23C0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26679" y="346557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Orchestrate →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Validate → Publish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50208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28B7B"/>
                </a:solidFill>
                <a:latin typeface="Plus Jakarta Sans"/>
              </a:rPr>
              <a:t>Plus periodic inputs: 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Bank Disclosures (monthly) · Regulation (twice-monthly) · Market Statistics (monthly).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498848"/>
            <a:ext cx="3813048" cy="1371600"/>
          </a:xfrm>
          <a:prstGeom prst="roundRect">
            <a:avLst>
              <a:gd name="adj" fmla="val 10666"/>
            </a:avLst>
          </a:prstGeom>
          <a:solidFill>
            <a:srgbClr val="141310"/>
          </a:solidFill>
          <a:ln>
            <a:noFill/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46451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C0E2"/>
                </a:solidFill>
                <a:latin typeface="Plus Jakarta Sans"/>
              </a:rPr>
              <a:t>FRIDAY — synthesis &amp;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97433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→ </a:t>
            </a:r>
            <a:r>
              <a:rPr sz="1050" b="0">
                <a:solidFill>
                  <a:srgbClr val="F5F1E8"/>
                </a:solidFill>
                <a:latin typeface="Plus Jakarta Sans"/>
              </a:rPr>
              <a:t>Triangulate the six streams → master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266944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→ </a:t>
            </a:r>
            <a:r>
              <a:rPr sz="1050" b="0">
                <a:solidFill>
                  <a:srgbClr val="F5F1E8"/>
                </a:solidFill>
                <a:latin typeface="Plus Jakarta Sans"/>
              </a:rPr>
              <a:t>Write the reasoned outlook + run the validator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55955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3C0E2"/>
                </a:solidFill>
                <a:latin typeface="Plus Jakarta Sans"/>
              </a:rPr>
              <a:t>→ </a:t>
            </a:r>
            <a:r>
              <a:rPr sz="1050" b="0">
                <a:solidFill>
                  <a:srgbClr val="F5F1E8"/>
                </a:solidFill>
                <a:latin typeface="Plus Jakarta Sans"/>
              </a:rPr>
              <a:t>Engine builds &amp; publishes → dashboard + brief 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98848"/>
            <a:ext cx="6949440" cy="1371600"/>
          </a:xfrm>
          <a:prstGeom prst="roundRect">
            <a:avLst>
              <a:gd name="adj" fmla="val 106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46817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D5A1C"/>
                </a:solidFill>
                <a:latin typeface="Plus Jakarta Sans"/>
              </a:rPr>
              <a:t>Why a cadence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0292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F594C"/>
                </a:solidFill>
                <a:latin typeface="Plus Jakarta Sans"/>
              </a:rPr>
              <a:t>Weekly tenders, jobs and vendor moves catch fast-moving windows; the monthly inputs add the structural backdrop. The result is a living picture, not a one-off report.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From signal to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3593592" cy="1883664"/>
          </a:xfrm>
          <a:prstGeom prst="roundRect">
            <a:avLst>
              <a:gd name="adj" fmla="val 77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002536"/>
            <a:ext cx="384048" cy="384048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02082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6130D"/>
                </a:solidFill>
                <a:latin typeface="Plus Jakarta Sans"/>
              </a:rPr>
              <a:t>Early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42616"/>
            <a:ext cx="2990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Reach the bank before the RFP is written — while you can still shape the spec, not just respond to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3593592" cy="1883664"/>
          </a:xfrm>
          <a:prstGeom prst="roundRect">
            <a:avLst>
              <a:gd name="adj" fmla="val 77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2002536"/>
            <a:ext cx="384048" cy="384048"/>
          </a:xfrm>
          <a:prstGeom prst="ellipse">
            <a:avLst/>
          </a:prstGeom>
          <a:solidFill>
            <a:srgbClr val="F0C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02082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6130D"/>
                </a:solidFill>
                <a:latin typeface="Plus Jakarta Sans"/>
              </a:rPr>
              <a:t>Named 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42616"/>
            <a:ext cx="2990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A new CDO or Head of Channels handed to sales, with the 6–12-month decision window already flagged.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593592" cy="1883664"/>
          </a:xfrm>
          <a:prstGeom prst="roundRect">
            <a:avLst>
              <a:gd name="adj" fmla="val 77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49056" y="2002536"/>
            <a:ext cx="384048" cy="384048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02082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6130D"/>
                </a:solidFill>
                <a:latin typeface="Plus Jakarta Sans"/>
              </a:rPr>
              <a:t>A board-grade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642616"/>
            <a:ext cx="2990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Bottom-line-up-front: the three highest-value moves with owner, by-when, and a deal-size band.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6243" y="3776472"/>
            <a:ext cx="3593592" cy="1883664"/>
          </a:xfrm>
          <a:prstGeom prst="roundRect">
            <a:avLst>
              <a:gd name="adj" fmla="val 77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717139" y="4087368"/>
            <a:ext cx="384048" cy="384048"/>
          </a:xfrm>
          <a:prstGeom prst="ellipse">
            <a:avLst/>
          </a:prstGeom>
          <a:solidFill>
            <a:srgbClr val="BF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17139" y="40873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7491" y="4105656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6130D"/>
                </a:solidFill>
                <a:latin typeface="Plus Jakarta Sans"/>
              </a:rPr>
              <a:t>Prioritised by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7139" y="4727448"/>
            <a:ext cx="2990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Opportunities ranked by risk-adjusted prize — size × win × confidence — not by noise or recency.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1859" y="3776472"/>
            <a:ext cx="3593592" cy="1883664"/>
          </a:xfrm>
          <a:prstGeom prst="roundRect">
            <a:avLst>
              <a:gd name="adj" fmla="val 7766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02755" y="4087368"/>
            <a:ext cx="384048" cy="384048"/>
          </a:xfrm>
          <a:prstGeom prst="ellipse">
            <a:avLst/>
          </a:prstGeom>
          <a:solidFill>
            <a:srgbClr val="A4C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2755" y="40873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3107" y="4105656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6130D"/>
                </a:solidFill>
                <a:latin typeface="Plus Jakarta Sans"/>
              </a:rPr>
              <a:t>A defensible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2755" y="4727448"/>
            <a:ext cx="2990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Every claim re-checkable to a dated source. Nothing in front of the board is taken on faith.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80">
                <a:solidFill>
                  <a:srgbClr val="0B6F87"/>
                </a:solidFill>
                <a:latin typeface="Plus Jakarta Sans"/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>
                <a:solidFill>
                  <a:srgbClr val="16130D"/>
                </a:solidFill>
                <a:latin typeface="Plus Jakarta Sans"/>
              </a:rPr>
              <a:t>Live today — and designed to grow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486400" cy="4069080"/>
          </a:xfrm>
          <a:prstGeom prst="roundRect">
            <a:avLst>
              <a:gd name="adj" fmla="val 3595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486400" cy="566928"/>
          </a:xfrm>
          <a:prstGeom prst="roundRect">
            <a:avLst>
              <a:gd name="adj" fmla="val 25806"/>
            </a:avLst>
          </a:prstGeom>
          <a:solidFill>
            <a:srgbClr val="D2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50">
                <a:solidFill>
                  <a:srgbClr val="3D5A1C"/>
                </a:solidFill>
                <a:latin typeface="Plus Jakarta Sans"/>
              </a:rPr>
              <a:t>LIVE NOW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140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Expected-value ranking (value, not just visibility)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8712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28346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Foresight layer — reasoned Outlook per market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3284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2918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Trust pass: every source re-fetched &amp; snapshotted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785615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3749039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39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Source links everywhere — figure → source in one click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2428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2062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06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Independent traceability validator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7000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6634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63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Full-size-range competitor map — local peers to giants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157216"/>
            <a:ext cx="182880" cy="182880"/>
          </a:xfrm>
          <a:prstGeom prst="ellipse">
            <a:avLst/>
          </a:prstGeom>
          <a:solidFill>
            <a:srgbClr val="A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512064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20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6130D"/>
                </a:solidFill>
                <a:latin typeface="Plus Jakarta Sans"/>
              </a:rPr>
              <a:t>Live dashboard auto-publishing every week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1645920"/>
            <a:ext cx="5394960" cy="4069080"/>
          </a:xfrm>
          <a:prstGeom prst="roundRect">
            <a:avLst>
              <a:gd name="adj" fmla="val 3595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>
            <a:outerShdw blurRad="120000" dist="45000" dir="5400000" rotWithShape="0">
              <a:srgbClr val="2A211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36208" y="1645920"/>
            <a:ext cx="5394960" cy="566928"/>
          </a:xfrm>
          <a:prstGeom prst="roundRect">
            <a:avLst>
              <a:gd name="adj" fmla="val 25806"/>
            </a:avLst>
          </a:prstGeom>
          <a:solidFill>
            <a:srgbClr val="D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64592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50">
                <a:solidFill>
                  <a:srgbClr val="0B6F87"/>
                </a:solidFill>
                <a:latin typeface="Plus Jakarta Sans"/>
              </a:rPr>
              <a:t>ON THE HORIZON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2532888"/>
            <a:ext cx="182880" cy="182880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24871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Beyond banking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816352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Extend to other Printec verticals — retail, fuel, postal, telco — once the method is proven.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611880"/>
            <a:ext cx="182880" cy="182880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Deeper leading indicators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895344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Broaden the early-signal sweep (search trends, app adoption, web traffic) feeding the Outlook.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690872"/>
            <a:ext cx="182880" cy="182880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0" y="46451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30D"/>
                </a:solidFill>
                <a:latin typeface="Plus Jakarta Sans"/>
              </a:rPr>
              <a:t>Competitor 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74336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F594C"/>
                </a:solidFill>
                <a:latin typeface="Plus Jakarta Sans"/>
              </a:rPr>
              <a:t>Segment revenue for the listed regionals + RFP-win tracking per competitor — who actually won which deal.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5678424"/>
            <a:ext cx="4800600" cy="603504"/>
          </a:xfrm>
          <a:prstGeom prst="roundRect">
            <a:avLst>
              <a:gd name="adj" fmla="val 18181"/>
            </a:avLst>
          </a:prstGeom>
          <a:solidFill>
            <a:srgbClr val="FBF6EC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5678424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6130D"/>
                </a:solidFill>
                <a:latin typeface="Plus Jakarta Sans"/>
              </a:rPr>
              <a:t>Banking-first by design: </a:t>
            </a:r>
            <a:r>
              <a:rPr sz="1050" b="0">
                <a:solidFill>
                  <a:srgbClr val="5F594C"/>
                </a:solidFill>
                <a:latin typeface="Plus Jakarta Sans"/>
              </a:rPr>
              <a:t>new verticals add collectors, not a rebuild.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Printec Group</a:t>
            </a:r>
            <a:r>
              <a:rPr sz="850" b="0">
                <a:solidFill>
                  <a:srgbClr val="928B7B"/>
                </a:solidFill>
                <a:latin typeface="Plus Jakarta Sans"/>
              </a:rPr>
              <a:t>   ·   Banking Market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928B7B"/>
                </a:solidFill>
                <a:latin typeface="Plus Jakart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4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72800" y="1463040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2254933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2254933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1463040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0" y="671146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0" y="671146"/>
            <a:ext cx="182880" cy="182880"/>
          </a:xfrm>
          <a:prstGeom prst="ellipse">
            <a:avLst/>
          </a:prstGeom>
          <a:noFill/>
          <a:ln w="12700">
            <a:solidFill>
              <a:srgbClr val="3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640080"/>
            <a:ext cx="1647748" cy="484632"/>
          </a:xfrm>
          <a:prstGeom prst="roundRect">
            <a:avLst>
              <a:gd name="adj" fmla="val 24000"/>
            </a:avLst>
          </a:prstGeom>
          <a:solidFill>
            <a:srgbClr val="FFFDF8"/>
          </a:solidFill>
          <a:ln w="12700">
            <a:solidFill>
              <a:srgbClr val="E7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4547" y="833932"/>
            <a:ext cx="96926" cy="96926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629" y="640080"/>
            <a:ext cx="1318199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7" b="1">
                <a:solidFill>
                  <a:srgbClr val="16130D"/>
                </a:solidFill>
                <a:latin typeface="Plus Jakarta Sans"/>
              </a:rPr>
              <a:t>Printec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0">
                <a:solidFill>
                  <a:srgbClr val="F5F1E8"/>
                </a:solidFill>
                <a:latin typeface="Plus Jakarta Sans"/>
              </a:rPr>
              <a:t>Every number on the screen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F5F1E8"/>
                </a:solidFill>
                <a:latin typeface="Plus Jakarta Sans"/>
              </a:rPr>
              <a:t>traces to a source you can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9B2A4"/>
                </a:solidFill>
                <a:latin typeface="Plus Jakarta Sans"/>
              </a:rPr>
              <a:t>The system that knows what banks will need — before they 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20640"/>
            <a:ext cx="4937760" cy="603504"/>
          </a:xfrm>
          <a:prstGeom prst="roundRect">
            <a:avLst>
              <a:gd name="adj" fmla="val 21212"/>
            </a:avLst>
          </a:prstGeom>
          <a:solidFill>
            <a:srgbClr val="1E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5330952"/>
            <a:ext cx="182880" cy="182880"/>
          </a:xfrm>
          <a:prstGeom prst="ellipse">
            <a:avLst/>
          </a:prstGeom>
          <a:solidFill>
            <a:srgbClr val="23C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" y="5120640"/>
            <a:ext cx="4389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23C0E2"/>
                </a:solidFill>
                <a:latin typeface="Plus Jakarta Sans"/>
              </a:rPr>
              <a:t>printec-market-research.vercel.app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9B2A4"/>
                </a:solidFill>
                <a:latin typeface="Plus Jakarta Sans"/>
              </a:rPr>
              <a:t>Printec Group  ·  Banking Market Intelligence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2099</Words>
  <Application>Microsoft Office PowerPoint</Application>
  <PresentationFormat>Widescreen</PresentationFormat>
  <Paragraphs>312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Karakasiliotis Konstantinos</cp:lastModifiedBy>
  <cp:revision>4</cp:revision>
  <dcterms:created xsi:type="dcterms:W3CDTF">2013-01-27T09:14:16Z</dcterms:created>
  <dcterms:modified xsi:type="dcterms:W3CDTF">2026-07-06T10:01:41Z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44e994-945c-43f2-b2a3-ee0c5870c5ec_Enabled">
    <vt:lpwstr>true</vt:lpwstr>
  </property>
  <property fmtid="{D5CDD505-2E9C-101B-9397-08002B2CF9AE}" pid="3" name="MSIP_Label_0b44e994-945c-43f2-b2a3-ee0c5870c5ec_SetDate">
    <vt:lpwstr>2026-07-06T09:59:13Z</vt:lpwstr>
  </property>
  <property fmtid="{D5CDD505-2E9C-101B-9397-08002B2CF9AE}" pid="4" name="MSIP_Label_0b44e994-945c-43f2-b2a3-ee0c5870c5ec_Method">
    <vt:lpwstr>Standard</vt:lpwstr>
  </property>
  <property fmtid="{D5CDD505-2E9C-101B-9397-08002B2CF9AE}" pid="5" name="MSIP_Label_0b44e994-945c-43f2-b2a3-ee0c5870c5ec_Name">
    <vt:lpwstr>0b44e994-945c-43f2-b2a3-ee0c5870c5ec</vt:lpwstr>
  </property>
  <property fmtid="{D5CDD505-2E9C-101B-9397-08002B2CF9AE}" pid="6" name="MSIP_Label_0b44e994-945c-43f2-b2a3-ee0c5870c5ec_SiteId">
    <vt:lpwstr>4b019d9b-5202-4ea3-9c0f-2fc04a7f51ec</vt:lpwstr>
  </property>
  <property fmtid="{D5CDD505-2E9C-101B-9397-08002B2CF9AE}" pid="7" name="MSIP_Label_0b44e994-945c-43f2-b2a3-ee0c5870c5ec_ActionId">
    <vt:lpwstr>eddbbaad-152a-4a6e-9b88-0fa897a7e4e6</vt:lpwstr>
  </property>
  <property fmtid="{D5CDD505-2E9C-101B-9397-08002B2CF9AE}" pid="8" name="MSIP_Label_0b44e994-945c-43f2-b2a3-ee0c5870c5ec_ContentBits">
    <vt:lpwstr>1</vt:lpwstr>
  </property>
  <property fmtid="{D5CDD505-2E9C-101B-9397-08002B2CF9AE}" pid="9" name="MSIP_Label_0b44e994-945c-43f2-b2a3-ee0c5870c5ec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[Confidential]</vt:lpwstr>
  </property>
</Properties>
</file>